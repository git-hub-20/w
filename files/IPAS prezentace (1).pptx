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256" r:id="rId2"/>
    <p:sldId id="258" r:id="rId3"/>
    <p:sldId id="260" r:id="rId4"/>
    <p:sldId id="262" r:id="rId5"/>
    <p:sldId id="265" r:id="rId6"/>
    <p:sldId id="267" r:id="rId7"/>
    <p:sldId id="268" r:id="rId8"/>
    <p:sldId id="269" r:id="rId9"/>
    <p:sldId id="264" r:id="rId10"/>
    <p:sldId id="263" r:id="rId11"/>
    <p:sldId id="276" r:id="rId12"/>
    <p:sldId id="266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cs-CZ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C88C09-4F55-9E2A-B9A7-C7A97F1CBB70}" v="247" dt="2026-04-27T09:07:47.100"/>
    <p1510:client id="{798A4D62-91A7-0845-8E1E-57B94E182E9A}" v="14" dt="2026-04-27T18:55:58.838"/>
    <p1510:client id="{803234BC-E1AA-3B52-CD72-D4B2E14BD3FB}" v="113" dt="2026-04-27T15:03:01.621"/>
    <p1510:client id="{9DFFCA72-1002-D846-93DF-B4E9E461AD52}" v="280" dt="2026-04-27T16:08:50.642"/>
    <p1510:client id="{B41B9F5B-99D6-3488-7F08-104C66775523}" v="272" dt="2026-04-27T15:46:28.494"/>
    <p1510:client id="{BC9E9ED8-3FB2-AACB-BE37-FA487D48EDA3}" v="3" dt="2026-04-28T07:02:25.012"/>
    <p1510:client id="{E0E76026-FF5D-4821-2B92-4CDD47F926AB}" v="116" dt="2026-04-28T05:59:33.8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776"/>
    <p:restoredTop sz="94640"/>
  </p:normalViewPr>
  <p:slideViewPr>
    <p:cSldViewPr snapToGrid="0">
      <p:cViewPr>
        <p:scale>
          <a:sx n="99" d="100"/>
          <a:sy n="99" d="100"/>
        </p:scale>
        <p:origin x="-3832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mendelu-my.sharepoint.com/personal/xpetras6_mendelu_cz/Documents/Book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Evropská produkce jogurtu v letech 2015  – 2023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List1!$B$14:$K$14</c:f>
              <c:strCache>
                <c:ptCount val="10"/>
                <c:pt idx="0">
                  <c:v>Německo</c:v>
                </c:pt>
                <c:pt idx="1">
                  <c:v>Francie</c:v>
                </c:pt>
                <c:pt idx="2">
                  <c:v>Španělsko</c:v>
                </c:pt>
                <c:pt idx="3">
                  <c:v>Polsko</c:v>
                </c:pt>
                <c:pt idx="4">
                  <c:v>Řecko</c:v>
                </c:pt>
                <c:pt idx="5">
                  <c:v>Nizozemí</c:v>
                </c:pt>
                <c:pt idx="6">
                  <c:v>Itálie</c:v>
                </c:pt>
                <c:pt idx="7">
                  <c:v>Švédsko</c:v>
                </c:pt>
                <c:pt idx="8">
                  <c:v>Bulharsko</c:v>
                </c:pt>
                <c:pt idx="9">
                  <c:v>Rakousko</c:v>
                </c:pt>
              </c:strCache>
            </c:strRef>
          </c:cat>
          <c:val>
            <c:numRef>
              <c:f>List1!$B$24:$K$24</c:f>
              <c:numCache>
                <c:formatCode>#,##0</c:formatCode>
                <c:ptCount val="10"/>
                <c:pt idx="0">
                  <c:v>7426900</c:v>
                </c:pt>
                <c:pt idx="1">
                  <c:v>4494150</c:v>
                </c:pt>
                <c:pt idx="2">
                  <c:v>2347630</c:v>
                </c:pt>
                <c:pt idx="3">
                  <c:v>2215620</c:v>
                </c:pt>
                <c:pt idx="4">
                  <c:v>1564890</c:v>
                </c:pt>
                <c:pt idx="5">
                  <c:v>1170630</c:v>
                </c:pt>
                <c:pt idx="6">
                  <c:v>596790</c:v>
                </c:pt>
                <c:pt idx="7">
                  <c:v>1288950</c:v>
                </c:pt>
                <c:pt idx="8">
                  <c:v>1159160</c:v>
                </c:pt>
                <c:pt idx="9" formatCode="General">
                  <c:v>1042570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{"Tuny"}</c15:sqref>
                        </c15:formulaRef>
                      </c:ext>
                    </c:extLst>
                    <c:strCache>
                      <c:ptCount val="1"/>
                      <c:pt idx="0">
                        <c:v>Tuny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5030-9C4C-B706-B6767DF6FA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86420231"/>
        <c:axId val="1786422279"/>
      </c:barChart>
      <c:catAx>
        <c:axId val="17864202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6422279"/>
        <c:crosses val="autoZero"/>
        <c:auto val="1"/>
        <c:lblAlgn val="ctr"/>
        <c:lblOffset val="100"/>
        <c:noMultiLvlLbl val="0"/>
      </c:catAx>
      <c:valAx>
        <c:axId val="1786422279"/>
        <c:scaling>
          <c:orientation val="minMax"/>
          <c:max val="850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cs-CZ"/>
                  <a:t>Tuny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6420231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bg2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36A33216-0B88-7326-C545-5FEA3200D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5413" y="5529263"/>
            <a:ext cx="2874962" cy="113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vál 3">
            <a:extLst>
              <a:ext uri="{FF2B5EF4-FFF2-40B4-BE49-F238E27FC236}">
                <a16:creationId xmlns:a16="http://schemas.microsoft.com/office/drawing/2014/main" id="{39E4E168-CFA5-3913-C2E8-055BCC25B2FD}"/>
              </a:ext>
            </a:extLst>
          </p:cNvPr>
          <p:cNvSpPr/>
          <p:nvPr/>
        </p:nvSpPr>
        <p:spPr>
          <a:xfrm>
            <a:off x="919163" y="468313"/>
            <a:ext cx="5921375" cy="59213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918673" y="1581150"/>
            <a:ext cx="9749327" cy="3922341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algn="l">
              <a:defRPr sz="5000" b="1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5" name="Zástupný symbol pro datum 3">
            <a:extLst>
              <a:ext uri="{FF2B5EF4-FFF2-40B4-BE49-F238E27FC236}">
                <a16:creationId xmlns:a16="http://schemas.microsoft.com/office/drawing/2014/main" id="{4CFF87CD-877C-45C6-09CC-4854C2B6BC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7175" y="330200"/>
            <a:ext cx="2601913" cy="1250950"/>
          </a:xfrm>
          <a:prstGeom prst="rect">
            <a:avLst/>
          </a:prstGeom>
        </p:spPr>
        <p:txBody>
          <a:bodyPr anchor="t" anchorCtr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2000" b="1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8E493A14-28C3-8D46-B1FE-8839DE1E880A}" type="datetimeFigureOut">
              <a:rPr lang="cs-CZ"/>
              <a:pPr>
                <a:defRPr/>
              </a:pPr>
              <a:t>28.04.2026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4314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FBC2C30E-557A-BFFA-4417-A417060BA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5413" y="5529263"/>
            <a:ext cx="2874962" cy="113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vál 3">
            <a:extLst>
              <a:ext uri="{FF2B5EF4-FFF2-40B4-BE49-F238E27FC236}">
                <a16:creationId xmlns:a16="http://schemas.microsoft.com/office/drawing/2014/main" id="{ECE904B6-C119-D719-38F9-D2DFF32FCAD3}"/>
              </a:ext>
            </a:extLst>
          </p:cNvPr>
          <p:cNvSpPr/>
          <p:nvPr/>
        </p:nvSpPr>
        <p:spPr>
          <a:xfrm>
            <a:off x="919163" y="468313"/>
            <a:ext cx="5921375" cy="5921375"/>
          </a:xfrm>
          <a:prstGeom prst="ellipse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918673" y="1581150"/>
            <a:ext cx="9749327" cy="3922341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algn="l">
              <a:defRPr sz="5000" b="1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5" name="Zástupný symbol pro datum 3">
            <a:extLst>
              <a:ext uri="{FF2B5EF4-FFF2-40B4-BE49-F238E27FC236}">
                <a16:creationId xmlns:a16="http://schemas.microsoft.com/office/drawing/2014/main" id="{96969A72-67AC-4EF5-8698-D2B43F1A36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7175" y="330200"/>
            <a:ext cx="2601913" cy="1250950"/>
          </a:xfrm>
          <a:prstGeom prst="rect">
            <a:avLst/>
          </a:prstGeom>
        </p:spPr>
        <p:txBody>
          <a:bodyPr anchor="t" anchorCtr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2000" b="1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18494715-A45C-A54F-AB88-B8337EE273B9}" type="datetimeFigureOut">
              <a:rPr lang="cs-CZ"/>
              <a:pPr>
                <a:defRPr/>
              </a:pPr>
              <a:t>28.04.2026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98068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délník 2">
            <a:extLst>
              <a:ext uri="{FF2B5EF4-FFF2-40B4-BE49-F238E27FC236}">
                <a16:creationId xmlns:a16="http://schemas.microsoft.com/office/drawing/2014/main" id="{6A8BAA0E-DFA0-B6CE-BE1E-1880C816D7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F667DA85-23E2-FAAE-44A0-1BDD989DA9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5510213"/>
            <a:ext cx="2913063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589E6629-D832-812E-C2EE-2597BAB86EA2}"/>
              </a:ext>
            </a:extLst>
          </p:cNvPr>
          <p:cNvSpPr/>
          <p:nvPr/>
        </p:nvSpPr>
        <p:spPr>
          <a:xfrm>
            <a:off x="0" y="0"/>
            <a:ext cx="46196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sp>
        <p:nvSpPr>
          <p:cNvPr id="6" name="Ovál 5">
            <a:extLst>
              <a:ext uri="{FF2B5EF4-FFF2-40B4-BE49-F238E27FC236}">
                <a16:creationId xmlns:a16="http://schemas.microsoft.com/office/drawing/2014/main" id="{7DF2E283-E840-BCC0-AD0B-0C63982A3BF4}"/>
              </a:ext>
            </a:extLst>
          </p:cNvPr>
          <p:cNvSpPr/>
          <p:nvPr/>
        </p:nvSpPr>
        <p:spPr>
          <a:xfrm>
            <a:off x="919163" y="468313"/>
            <a:ext cx="5921375" cy="59213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918673" y="1581150"/>
            <a:ext cx="9749327" cy="3922341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algn="l">
              <a:defRPr sz="5000" b="1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7" name="Zástupný symbol pro datum 3">
            <a:extLst>
              <a:ext uri="{FF2B5EF4-FFF2-40B4-BE49-F238E27FC236}">
                <a16:creationId xmlns:a16="http://schemas.microsoft.com/office/drawing/2014/main" id="{FA94F576-05ED-EBAA-BC36-AFC5AADB50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7175" y="330200"/>
            <a:ext cx="2601913" cy="1250950"/>
          </a:xfrm>
          <a:prstGeom prst="rect">
            <a:avLst/>
          </a:prstGeom>
        </p:spPr>
        <p:txBody>
          <a:bodyPr anchor="t" anchorCtr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ECDE40A4-AF94-BC43-BA50-1F1748304638}" type="datetimeFigureOut">
              <a:rPr lang="cs-CZ"/>
              <a:pPr>
                <a:defRPr/>
              </a:pPr>
              <a:t>28.04.2026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36378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2">
            <a:extLst>
              <a:ext uri="{FF2B5EF4-FFF2-40B4-BE49-F238E27FC236}">
                <a16:creationId xmlns:a16="http://schemas.microsoft.com/office/drawing/2014/main" id="{2FB4C7E4-5F9A-B86E-ECE0-A47FC26C1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9913" y="5892800"/>
            <a:ext cx="1144587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Zástupný symbol pro text 17"/>
          <p:cNvSpPr>
            <a:spLocks noGrp="1"/>
          </p:cNvSpPr>
          <p:nvPr>
            <p:ph type="body" sz="quarter" idx="14"/>
          </p:nvPr>
        </p:nvSpPr>
        <p:spPr>
          <a:xfrm>
            <a:off x="885825" y="419101"/>
            <a:ext cx="10934700" cy="619125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4131450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zápat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2">
            <a:extLst>
              <a:ext uri="{FF2B5EF4-FFF2-40B4-BE49-F238E27FC236}">
                <a16:creationId xmlns:a16="http://schemas.microsoft.com/office/drawing/2014/main" id="{518E9505-3AAC-4DA4-17ED-1136A74FB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0" y="5900738"/>
            <a:ext cx="227647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Zástupný symbol pro text 17"/>
          <p:cNvSpPr>
            <a:spLocks noGrp="1"/>
          </p:cNvSpPr>
          <p:nvPr>
            <p:ph type="body" sz="quarter" idx="14"/>
          </p:nvPr>
        </p:nvSpPr>
        <p:spPr>
          <a:xfrm>
            <a:off x="885825" y="419101"/>
            <a:ext cx="10934700" cy="619125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Zástupný symbol pro zápatí 4">
            <a:extLst>
              <a:ext uri="{FF2B5EF4-FFF2-40B4-BE49-F238E27FC236}">
                <a16:creationId xmlns:a16="http://schemas.microsoft.com/office/drawing/2014/main" id="{CD8F5AA4-5E8A-FCA7-D357-33C78F53597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76450" y="6300788"/>
            <a:ext cx="6076950" cy="365125"/>
          </a:xfrm>
          <a:prstGeom prst="rect">
            <a:avLst/>
          </a:prstGeom>
        </p:spPr>
        <p:txBody>
          <a:bodyPr lIns="0" tIns="0" rIns="0" bIns="0" anchor="b" anchorCtr="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7216F2E7-CDCF-600A-D60D-828BA0C8CDE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85825" y="6300788"/>
            <a:ext cx="104775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DC595D26-2839-B441-AD2B-B8C6D90A62EC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278199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2">
            <a:extLst>
              <a:ext uri="{FF2B5EF4-FFF2-40B4-BE49-F238E27FC236}">
                <a16:creationId xmlns:a16="http://schemas.microsoft.com/office/drawing/2014/main" id="{23CAFA44-07B2-0F06-0E06-E3E0D0796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0" y="5900738"/>
            <a:ext cx="227647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85824" y="1169986"/>
            <a:ext cx="10863264" cy="5014913"/>
          </a:xfrm>
          <a:prstGeom prst="rect">
            <a:avLst/>
          </a:prstGeom>
        </p:spPr>
        <p:txBody>
          <a:bodyPr lIns="0" tIns="0" rIns="0" bIns="0"/>
          <a:lstStyle>
            <a:lvl2pPr marL="6858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●"/>
              <a:defRPr/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1" name="Zástupný symbol pro text 17"/>
          <p:cNvSpPr>
            <a:spLocks noGrp="1"/>
          </p:cNvSpPr>
          <p:nvPr>
            <p:ph type="body" sz="quarter" idx="14"/>
          </p:nvPr>
        </p:nvSpPr>
        <p:spPr>
          <a:xfrm>
            <a:off x="885825" y="419101"/>
            <a:ext cx="10934700" cy="619125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zápatí 4">
            <a:extLst>
              <a:ext uri="{FF2B5EF4-FFF2-40B4-BE49-F238E27FC236}">
                <a16:creationId xmlns:a16="http://schemas.microsoft.com/office/drawing/2014/main" id="{A2CEA2D0-3CEB-A51A-8994-93667EB7F9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76450" y="6300788"/>
            <a:ext cx="6076950" cy="365125"/>
          </a:xfrm>
          <a:prstGeom prst="rect">
            <a:avLst/>
          </a:prstGeom>
        </p:spPr>
        <p:txBody>
          <a:bodyPr lIns="0" tIns="0" rIns="0" bIns="0" anchor="b" anchorCtr="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87EFBFD7-5D32-E210-8F7C-C118BFB783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85825" y="6300788"/>
            <a:ext cx="104775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A5CE3CC7-8B61-8C4E-8872-FDBF1C452037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911345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2">
            <a:extLst>
              <a:ext uri="{FF2B5EF4-FFF2-40B4-BE49-F238E27FC236}">
                <a16:creationId xmlns:a16="http://schemas.microsoft.com/office/drawing/2014/main" id="{D4CCB5C8-EBCB-0053-7CE5-597369D7B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0" y="5900738"/>
            <a:ext cx="227647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Zástupný symbol pro text 17"/>
          <p:cNvSpPr>
            <a:spLocks noGrp="1"/>
          </p:cNvSpPr>
          <p:nvPr>
            <p:ph type="body" sz="quarter" idx="14"/>
          </p:nvPr>
        </p:nvSpPr>
        <p:spPr>
          <a:xfrm>
            <a:off x="885825" y="419101"/>
            <a:ext cx="10934700" cy="619125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quarter" idx="15"/>
          </p:nvPr>
        </p:nvSpPr>
        <p:spPr>
          <a:xfrm>
            <a:off x="885823" y="1193099"/>
            <a:ext cx="10863265" cy="5014912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Zástupný symbol pro zápatí 4">
            <a:extLst>
              <a:ext uri="{FF2B5EF4-FFF2-40B4-BE49-F238E27FC236}">
                <a16:creationId xmlns:a16="http://schemas.microsoft.com/office/drawing/2014/main" id="{DD84F86D-EC50-2155-98A1-A684F9C1C61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76450" y="6300788"/>
            <a:ext cx="6076950" cy="365125"/>
          </a:xfrm>
          <a:prstGeom prst="rect">
            <a:avLst/>
          </a:prstGeom>
        </p:spPr>
        <p:txBody>
          <a:bodyPr lIns="0" tIns="0" rIns="0" bIns="0" anchor="b" anchorCtr="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EE8CD9C4-17E3-B6A4-D937-C9C698D21D0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825" y="6300788"/>
            <a:ext cx="104775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143DB539-44E9-0041-AFAE-02F29449EE5D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808133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áz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2">
            <a:extLst>
              <a:ext uri="{FF2B5EF4-FFF2-40B4-BE49-F238E27FC236}">
                <a16:creationId xmlns:a16="http://schemas.microsoft.com/office/drawing/2014/main" id="{ED83A7B1-DF2E-7FA4-4033-81510BDDC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0" y="5900738"/>
            <a:ext cx="227647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Zástupný symbol pro text 17"/>
          <p:cNvSpPr>
            <a:spLocks noGrp="1"/>
          </p:cNvSpPr>
          <p:nvPr>
            <p:ph type="body" sz="quarter" idx="14"/>
          </p:nvPr>
        </p:nvSpPr>
        <p:spPr>
          <a:xfrm>
            <a:off x="885825" y="419101"/>
            <a:ext cx="10863263" cy="619125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sz="quarter" idx="16"/>
          </p:nvPr>
        </p:nvSpPr>
        <p:spPr>
          <a:xfrm>
            <a:off x="885825" y="1219200"/>
            <a:ext cx="10863263" cy="49895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cs-CZ" noProof="0"/>
              <a:t>Kliknutím na ikonu přidáte obrázek.</a:t>
            </a:r>
          </a:p>
        </p:txBody>
      </p:sp>
      <p:sp>
        <p:nvSpPr>
          <p:cNvPr id="4" name="Zástupný symbol pro zápatí 4">
            <a:extLst>
              <a:ext uri="{FF2B5EF4-FFF2-40B4-BE49-F238E27FC236}">
                <a16:creationId xmlns:a16="http://schemas.microsoft.com/office/drawing/2014/main" id="{AAB3C2FC-AE8A-8F84-67B5-598C12EDB4E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076450" y="6300788"/>
            <a:ext cx="6076950" cy="365125"/>
          </a:xfrm>
          <a:prstGeom prst="rect">
            <a:avLst/>
          </a:prstGeom>
        </p:spPr>
        <p:txBody>
          <a:bodyPr lIns="0" tIns="0" rIns="0" bIns="0" anchor="b" anchorCtr="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45690BBD-1A00-3B99-875D-88B2F751A24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85825" y="6300788"/>
            <a:ext cx="104775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A5A75A1C-5AB8-8D45-8E3B-F5273190BC0B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381546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2">
            <a:extLst>
              <a:ext uri="{FF2B5EF4-FFF2-40B4-BE49-F238E27FC236}">
                <a16:creationId xmlns:a16="http://schemas.microsoft.com/office/drawing/2014/main" id="{016CA04D-6314-28C9-C69F-6EAF3293F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0" y="5900738"/>
            <a:ext cx="227647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Zástupný symbol pro obsah 2"/>
          <p:cNvSpPr>
            <a:spLocks noGrp="1"/>
          </p:cNvSpPr>
          <p:nvPr>
            <p:ph idx="1"/>
          </p:nvPr>
        </p:nvSpPr>
        <p:spPr>
          <a:xfrm>
            <a:off x="885824" y="1169986"/>
            <a:ext cx="6667501" cy="5014913"/>
          </a:xfrm>
          <a:prstGeom prst="rect">
            <a:avLst/>
          </a:prstGeom>
        </p:spPr>
        <p:txBody>
          <a:bodyPr lIns="0" tIns="0" rIns="0" bIns="0"/>
          <a:lstStyle>
            <a:lvl2pPr marL="6858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●"/>
              <a:defRPr/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4" name="Zástupný symbol pro obrázek 2"/>
          <p:cNvSpPr>
            <a:spLocks noGrp="1"/>
          </p:cNvSpPr>
          <p:nvPr>
            <p:ph type="pic" idx="13"/>
          </p:nvPr>
        </p:nvSpPr>
        <p:spPr>
          <a:xfrm>
            <a:off x="7734301" y="1169986"/>
            <a:ext cx="4014788" cy="4649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cs-CZ" noProof="0"/>
              <a:t>Kliknutím na ikonu přidáte obrázek.</a:t>
            </a:r>
          </a:p>
        </p:txBody>
      </p:sp>
      <p:sp>
        <p:nvSpPr>
          <p:cNvPr id="17" name="Zástupný symbol pro text 17"/>
          <p:cNvSpPr>
            <a:spLocks noGrp="1"/>
          </p:cNvSpPr>
          <p:nvPr>
            <p:ph type="body" sz="quarter" idx="14"/>
          </p:nvPr>
        </p:nvSpPr>
        <p:spPr>
          <a:xfrm>
            <a:off x="885825" y="419101"/>
            <a:ext cx="10934700" cy="619125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Zástupný symbol pro zápatí 4">
            <a:extLst>
              <a:ext uri="{FF2B5EF4-FFF2-40B4-BE49-F238E27FC236}">
                <a16:creationId xmlns:a16="http://schemas.microsoft.com/office/drawing/2014/main" id="{64FC1003-B0C2-64D7-CB8B-72823A7CF8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76450" y="6300788"/>
            <a:ext cx="6076950" cy="365125"/>
          </a:xfrm>
          <a:prstGeom prst="rect">
            <a:avLst/>
          </a:prstGeom>
        </p:spPr>
        <p:txBody>
          <a:bodyPr lIns="0" tIns="0" rIns="0" bIns="0" anchor="b" anchorCtr="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2C11892C-9C5D-A4D3-E35D-80DCA3CD2D9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85825" y="6300788"/>
            <a:ext cx="104775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4A1EFB8A-EE13-174A-BE18-04B6F7137AAA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854672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2">
            <a:extLst>
              <a:ext uri="{FF2B5EF4-FFF2-40B4-BE49-F238E27FC236}">
                <a16:creationId xmlns:a16="http://schemas.microsoft.com/office/drawing/2014/main" id="{23CD3585-E2C9-6D25-BDAF-143EDECA2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0" y="5900738"/>
            <a:ext cx="227647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85822" y="1200150"/>
            <a:ext cx="5362577" cy="4703017"/>
          </a:xfrm>
          <a:prstGeom prst="rect">
            <a:avLst/>
          </a:prstGeom>
        </p:spPr>
        <p:txBody>
          <a:bodyPr lIns="0" tIns="0" rIns="0" bIns="0"/>
          <a:lstStyle>
            <a:lvl2pPr>
              <a:buClr>
                <a:schemeClr val="accent5"/>
              </a:buClr>
              <a:defRPr/>
            </a:lvl2pPr>
            <a:lvl3pPr>
              <a:buClr>
                <a:schemeClr val="accent5"/>
              </a:buClr>
              <a:defRPr/>
            </a:lvl3pPr>
            <a:lvl4pPr>
              <a:buClr>
                <a:schemeClr val="accent5"/>
              </a:buClr>
              <a:defRPr/>
            </a:lvl4pPr>
            <a:lvl5pPr>
              <a:buClr>
                <a:schemeClr val="accent5"/>
              </a:buClr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8" name="Zástupný symbol pro text 17"/>
          <p:cNvSpPr>
            <a:spLocks noGrp="1"/>
          </p:cNvSpPr>
          <p:nvPr>
            <p:ph type="body" sz="quarter" idx="14"/>
          </p:nvPr>
        </p:nvSpPr>
        <p:spPr>
          <a:xfrm>
            <a:off x="885825" y="419101"/>
            <a:ext cx="10934700" cy="619125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Zástupný symbol pro obsah 2"/>
          <p:cNvSpPr>
            <a:spLocks noGrp="1"/>
          </p:cNvSpPr>
          <p:nvPr>
            <p:ph sz="half" idx="15"/>
          </p:nvPr>
        </p:nvSpPr>
        <p:spPr>
          <a:xfrm>
            <a:off x="6457948" y="1200149"/>
            <a:ext cx="5362577" cy="4703017"/>
          </a:xfrm>
          <a:prstGeom prst="rect">
            <a:avLst/>
          </a:prstGeom>
        </p:spPr>
        <p:txBody>
          <a:bodyPr lIns="0" tIns="0" rIns="0" bIns="0"/>
          <a:lstStyle>
            <a:lvl2pPr>
              <a:buClr>
                <a:schemeClr val="accent5"/>
              </a:buClr>
              <a:defRPr/>
            </a:lvl2pPr>
            <a:lvl3pPr>
              <a:buClr>
                <a:schemeClr val="accent5"/>
              </a:buClr>
              <a:defRPr/>
            </a:lvl3pPr>
            <a:lvl4pPr>
              <a:buClr>
                <a:schemeClr val="accent5"/>
              </a:buClr>
              <a:defRPr/>
            </a:lvl4pPr>
            <a:lvl5pPr>
              <a:buClr>
                <a:schemeClr val="accent5"/>
              </a:buClr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zápatí 4">
            <a:extLst>
              <a:ext uri="{FF2B5EF4-FFF2-40B4-BE49-F238E27FC236}">
                <a16:creationId xmlns:a16="http://schemas.microsoft.com/office/drawing/2014/main" id="{D268BD6F-E319-D5D1-82AA-BFF63BB59E6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76450" y="6300788"/>
            <a:ext cx="6076950" cy="365125"/>
          </a:xfrm>
          <a:prstGeom prst="rect">
            <a:avLst/>
          </a:prstGeom>
        </p:spPr>
        <p:txBody>
          <a:bodyPr lIns="0" tIns="0" rIns="0" bIns="0" anchor="b" anchorCtr="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D0CE6374-A120-9CE1-43DC-4EA0C05A1D1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825" y="6300788"/>
            <a:ext cx="104775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17E5EADD-6CA8-4E46-B9B1-0FB24892BB42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903712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2">
            <a:extLst>
              <a:ext uri="{FF2B5EF4-FFF2-40B4-BE49-F238E27FC236}">
                <a16:creationId xmlns:a16="http://schemas.microsoft.com/office/drawing/2014/main" id="{41F7E85A-027A-9A40-C71E-7B9F6939B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0" y="5900738"/>
            <a:ext cx="227647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85820" y="1702857"/>
            <a:ext cx="5405971" cy="82391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451601" y="1702859"/>
            <a:ext cx="5297488" cy="82391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8" name="Zástupný symbol pro text 17"/>
          <p:cNvSpPr>
            <a:spLocks noGrp="1"/>
          </p:cNvSpPr>
          <p:nvPr>
            <p:ph type="body" sz="quarter" idx="14"/>
          </p:nvPr>
        </p:nvSpPr>
        <p:spPr>
          <a:xfrm>
            <a:off x="885825" y="419101"/>
            <a:ext cx="10934700" cy="1134534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Zástupný symbol pro obsah 2"/>
          <p:cNvSpPr>
            <a:spLocks noGrp="1"/>
          </p:cNvSpPr>
          <p:nvPr>
            <p:ph sz="half" idx="16"/>
          </p:nvPr>
        </p:nvSpPr>
        <p:spPr>
          <a:xfrm>
            <a:off x="885819" y="2526771"/>
            <a:ext cx="5405972" cy="3628496"/>
          </a:xfrm>
          <a:prstGeom prst="rect">
            <a:avLst/>
          </a:prstGeom>
        </p:spPr>
        <p:txBody>
          <a:bodyPr lIns="0" tIns="0" rIns="0" bIns="0"/>
          <a:lstStyle>
            <a:lvl2pPr>
              <a:buClr>
                <a:schemeClr val="accent5"/>
              </a:buClr>
              <a:defRPr/>
            </a:lvl2pPr>
            <a:lvl3pPr>
              <a:buClr>
                <a:schemeClr val="accent5"/>
              </a:buClr>
              <a:defRPr/>
            </a:lvl3pPr>
            <a:lvl4pPr>
              <a:buClr>
                <a:schemeClr val="accent5"/>
              </a:buClr>
              <a:defRPr/>
            </a:lvl4pPr>
            <a:lvl5pPr>
              <a:buClr>
                <a:schemeClr val="accent5"/>
              </a:buClr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1" name="Zástupný symbol pro obsah 2"/>
          <p:cNvSpPr>
            <a:spLocks noGrp="1"/>
          </p:cNvSpPr>
          <p:nvPr>
            <p:ph sz="half" idx="17"/>
          </p:nvPr>
        </p:nvSpPr>
        <p:spPr>
          <a:xfrm>
            <a:off x="6451599" y="2526771"/>
            <a:ext cx="5297489" cy="3628496"/>
          </a:xfrm>
          <a:prstGeom prst="rect">
            <a:avLst/>
          </a:prstGeom>
        </p:spPr>
        <p:txBody>
          <a:bodyPr lIns="0" tIns="0" rIns="0" bIns="0"/>
          <a:lstStyle>
            <a:lvl2pPr>
              <a:buClr>
                <a:schemeClr val="accent5"/>
              </a:buClr>
              <a:defRPr/>
            </a:lvl2pPr>
            <a:lvl3pPr>
              <a:buClr>
                <a:schemeClr val="accent5"/>
              </a:buClr>
              <a:defRPr/>
            </a:lvl3pPr>
            <a:lvl4pPr>
              <a:buClr>
                <a:schemeClr val="accent5"/>
              </a:buClr>
              <a:defRPr/>
            </a:lvl4pPr>
            <a:lvl5pPr>
              <a:buClr>
                <a:schemeClr val="accent5"/>
              </a:buClr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zápatí 4">
            <a:extLst>
              <a:ext uri="{FF2B5EF4-FFF2-40B4-BE49-F238E27FC236}">
                <a16:creationId xmlns:a16="http://schemas.microsoft.com/office/drawing/2014/main" id="{2EB89182-287B-0B16-CE47-2504FA1C1D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076450" y="6300788"/>
            <a:ext cx="6076950" cy="365125"/>
          </a:xfrm>
          <a:prstGeom prst="rect">
            <a:avLst/>
          </a:prstGeom>
        </p:spPr>
        <p:txBody>
          <a:bodyPr lIns="0" tIns="0" rIns="0" bIns="0" anchor="b" anchorCtr="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D0AD9EE-9F26-D5A8-8901-3D7F5EE3CCA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85825" y="6300788"/>
            <a:ext cx="104775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94BAE3CD-7B23-F242-9F54-DA552B97E88C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36674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2">
            <a:extLst>
              <a:ext uri="{FF2B5EF4-FFF2-40B4-BE49-F238E27FC236}">
                <a16:creationId xmlns:a16="http://schemas.microsoft.com/office/drawing/2014/main" id="{A1B710A0-08D2-26A7-6E95-08A5803F7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0" y="5900738"/>
            <a:ext cx="227647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Zástupný symbol pro graf 9"/>
          <p:cNvSpPr>
            <a:spLocks noGrp="1"/>
          </p:cNvSpPr>
          <p:nvPr>
            <p:ph type="chart" sz="quarter" idx="13"/>
          </p:nvPr>
        </p:nvSpPr>
        <p:spPr>
          <a:xfrm>
            <a:off x="885825" y="1447801"/>
            <a:ext cx="5337223" cy="4453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cs-CZ" noProof="0"/>
              <a:t>Kliknutím na ikonu přidáte graf.</a:t>
            </a:r>
          </a:p>
        </p:txBody>
      </p:sp>
      <p:sp>
        <p:nvSpPr>
          <p:cNvPr id="11" name="Zástupný symbol pro graf 9"/>
          <p:cNvSpPr>
            <a:spLocks noGrp="1"/>
          </p:cNvSpPr>
          <p:nvPr>
            <p:ph type="chart" sz="quarter" idx="14"/>
          </p:nvPr>
        </p:nvSpPr>
        <p:spPr>
          <a:xfrm>
            <a:off x="6524625" y="1447801"/>
            <a:ext cx="5224464" cy="4453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cs-CZ" noProof="0"/>
              <a:t>Kliknutím na ikonu přidáte graf.</a:t>
            </a:r>
          </a:p>
        </p:txBody>
      </p:sp>
      <p:sp>
        <p:nvSpPr>
          <p:cNvPr id="12" name="Zástupný symbol pro text 17"/>
          <p:cNvSpPr>
            <a:spLocks noGrp="1"/>
          </p:cNvSpPr>
          <p:nvPr>
            <p:ph type="body" sz="quarter" idx="15"/>
          </p:nvPr>
        </p:nvSpPr>
        <p:spPr>
          <a:xfrm>
            <a:off x="885825" y="419101"/>
            <a:ext cx="10934700" cy="619125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Zástupný symbol pro zápatí 4">
            <a:extLst>
              <a:ext uri="{FF2B5EF4-FFF2-40B4-BE49-F238E27FC236}">
                <a16:creationId xmlns:a16="http://schemas.microsoft.com/office/drawing/2014/main" id="{A15A510E-CDC9-8AD9-E782-571E382A3A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76450" y="6300788"/>
            <a:ext cx="6076950" cy="365125"/>
          </a:xfrm>
          <a:prstGeom prst="rect">
            <a:avLst/>
          </a:prstGeom>
        </p:spPr>
        <p:txBody>
          <a:bodyPr lIns="0" tIns="0" rIns="0" bIns="0" anchor="b" anchorCtr="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64AD019F-0A17-B112-383D-7BF3BA02943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825" y="6300788"/>
            <a:ext cx="104775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B0274EBD-A29C-DD49-9C1F-F4539EF6659B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71737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ová strán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0849991F-087C-C271-6221-D3A228A19F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4BBB2755-95CF-B386-4A74-E22B90FFFA91}"/>
              </a:ext>
            </a:extLst>
          </p:cNvPr>
          <p:cNvSpPr/>
          <p:nvPr/>
        </p:nvSpPr>
        <p:spPr>
          <a:xfrm>
            <a:off x="0" y="0"/>
            <a:ext cx="46196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sp>
        <p:nvSpPr>
          <p:cNvPr id="10" name="Zástupný symbol pro text 17"/>
          <p:cNvSpPr>
            <a:spLocks noGrp="1"/>
          </p:cNvSpPr>
          <p:nvPr>
            <p:ph type="body" sz="quarter" idx="14"/>
          </p:nvPr>
        </p:nvSpPr>
        <p:spPr>
          <a:xfrm>
            <a:off x="885825" y="1504950"/>
            <a:ext cx="10934700" cy="381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0021287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ová stránka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E656A40A-2AEF-C2AB-EDB3-80E7CCE8C0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29062E94-2D16-3679-3B69-B3C8BD949D8A}"/>
              </a:ext>
            </a:extLst>
          </p:cNvPr>
          <p:cNvSpPr/>
          <p:nvPr/>
        </p:nvSpPr>
        <p:spPr>
          <a:xfrm>
            <a:off x="0" y="0"/>
            <a:ext cx="46196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sp>
        <p:nvSpPr>
          <p:cNvPr id="8" name="Zástupný symbol pro text 17"/>
          <p:cNvSpPr>
            <a:spLocks noGrp="1"/>
          </p:cNvSpPr>
          <p:nvPr>
            <p:ph type="body" sz="quarter" idx="14"/>
          </p:nvPr>
        </p:nvSpPr>
        <p:spPr>
          <a:xfrm>
            <a:off x="885825" y="1504950"/>
            <a:ext cx="10934700" cy="381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238132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2">
            <a:extLst>
              <a:ext uri="{FF2B5EF4-FFF2-40B4-BE49-F238E27FC236}">
                <a16:creationId xmlns:a16="http://schemas.microsoft.com/office/drawing/2014/main" id="{4D20F23A-8E7A-BBA6-15AA-CDF179B113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9638" y="6234113"/>
            <a:ext cx="823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Obrázek 3">
            <a:extLst>
              <a:ext uri="{FF2B5EF4-FFF2-40B4-BE49-F238E27FC236}">
                <a16:creationId xmlns:a16="http://schemas.microsoft.com/office/drawing/2014/main" id="{EA34E32F-75D6-ECDB-B4DD-A74741A21B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0" y="5900738"/>
            <a:ext cx="227647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Zástupný symbol pro obrázek 11"/>
          <p:cNvSpPr>
            <a:spLocks noGrp="1"/>
          </p:cNvSpPr>
          <p:nvPr>
            <p:ph type="pic" sz="quarter" idx="13"/>
          </p:nvPr>
        </p:nvSpPr>
        <p:spPr>
          <a:xfrm>
            <a:off x="885823" y="1343025"/>
            <a:ext cx="5772152" cy="4772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cs-CZ" noProof="0"/>
              <a:t>Kliknutím na ikonu přidáte obrázek.</a:t>
            </a:r>
          </a:p>
        </p:txBody>
      </p:sp>
      <p:sp>
        <p:nvSpPr>
          <p:cNvPr id="14" name="Zástupný symbol pro obrázek 13"/>
          <p:cNvSpPr>
            <a:spLocks noGrp="1"/>
          </p:cNvSpPr>
          <p:nvPr>
            <p:ph type="pic" sz="quarter" idx="14"/>
          </p:nvPr>
        </p:nvSpPr>
        <p:spPr>
          <a:xfrm>
            <a:off x="6810375" y="1343025"/>
            <a:ext cx="4962525" cy="22669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cs-CZ" noProof="0"/>
              <a:t>Kliknutím na ikonu přidáte obrázek.</a:t>
            </a:r>
          </a:p>
        </p:txBody>
      </p:sp>
      <p:sp>
        <p:nvSpPr>
          <p:cNvPr id="15" name="Zástupný symbol pro obrázek 13"/>
          <p:cNvSpPr>
            <a:spLocks noGrp="1"/>
          </p:cNvSpPr>
          <p:nvPr>
            <p:ph type="pic" sz="quarter" idx="15"/>
          </p:nvPr>
        </p:nvSpPr>
        <p:spPr>
          <a:xfrm>
            <a:off x="6810374" y="3767136"/>
            <a:ext cx="2686051" cy="25336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cs-CZ" noProof="0"/>
              <a:t>Kliknutím na ikonu přidáte obrázek.</a:t>
            </a:r>
          </a:p>
        </p:txBody>
      </p:sp>
      <p:sp>
        <p:nvSpPr>
          <p:cNvPr id="16" name="Zástupný symbol pro text 17"/>
          <p:cNvSpPr>
            <a:spLocks noGrp="1"/>
          </p:cNvSpPr>
          <p:nvPr>
            <p:ph type="body" sz="quarter" idx="16"/>
          </p:nvPr>
        </p:nvSpPr>
        <p:spPr>
          <a:xfrm>
            <a:off x="885825" y="419101"/>
            <a:ext cx="10934700" cy="619125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zápatí 4">
            <a:extLst>
              <a:ext uri="{FF2B5EF4-FFF2-40B4-BE49-F238E27FC236}">
                <a16:creationId xmlns:a16="http://schemas.microsoft.com/office/drawing/2014/main" id="{841509BB-4307-782F-0D0B-2BB1060258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076450" y="6300788"/>
            <a:ext cx="6076950" cy="365125"/>
          </a:xfrm>
          <a:prstGeom prst="rect">
            <a:avLst/>
          </a:prstGeom>
        </p:spPr>
        <p:txBody>
          <a:bodyPr lIns="0" tIns="0" rIns="0" bIns="0" anchor="b" anchorCtr="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86D46687-DCFF-7C11-B6BE-73CF40CBF6C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85825" y="6300788"/>
            <a:ext cx="104775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5C207A27-3F3D-F049-B56E-5B056C0D1FE3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411569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vě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2">
            <a:extLst>
              <a:ext uri="{FF2B5EF4-FFF2-40B4-BE49-F238E27FC236}">
                <a16:creationId xmlns:a16="http://schemas.microsoft.com/office/drawing/2014/main" id="{045DBA23-AA7F-3A6E-3FCE-6768B5C1E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5413" y="5529263"/>
            <a:ext cx="2874962" cy="113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Zástupný symbol pro text 17"/>
          <p:cNvSpPr>
            <a:spLocks noGrp="1"/>
          </p:cNvSpPr>
          <p:nvPr>
            <p:ph type="body" sz="quarter" idx="15"/>
          </p:nvPr>
        </p:nvSpPr>
        <p:spPr>
          <a:xfrm>
            <a:off x="885825" y="1543050"/>
            <a:ext cx="10934700" cy="3960442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2120929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320FF296-01BD-164D-DF82-4C4F918423FD}"/>
              </a:ext>
            </a:extLst>
          </p:cNvPr>
          <p:cNvSpPr/>
          <p:nvPr/>
        </p:nvSpPr>
        <p:spPr>
          <a:xfrm>
            <a:off x="0" y="0"/>
            <a:ext cx="461963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algn="l" rtl="0" eaLnBrk="1" fontAlgn="base" hangingPunct="1">
        <a:spcBef>
          <a:spcPts val="1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spcBef>
          <a:spcPts val="5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ts val="5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ts val="5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ts val="5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letters.enterprisegreece.gov.gr/newsletter-articles/healthy-food-trends-help-drive-record-greek-feta-yogurt-exports/" TargetMode="External"/><Relationship Id="rId2" Type="http://schemas.openxmlformats.org/officeDocument/2006/relationships/hyperlink" Target="https://www.statista.com/statistics/1190879/yogurt-production-in-europe/" TargetMode="Externa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www.fao.org/dairy-production-products/production/milk-production/e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Nadpis 5">
            <a:extLst>
              <a:ext uri="{FF2B5EF4-FFF2-40B4-BE49-F238E27FC236}">
                <a16:creationId xmlns:a16="http://schemas.microsoft.com/office/drawing/2014/main" id="{CE1D5583-1032-FDD1-E124-9ED5518DC1D8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1221580" y="1581150"/>
            <a:ext cx="9748837" cy="20993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tIns="45720" bIns="45720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cs-CZ" altLang="cs-CZ"/>
              <a:t>Integrační procesy agrárního sektoru – jogurt bílý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5F15273A-89AC-2DD7-EE24-C1A94E5A26D6}"/>
              </a:ext>
            </a:extLst>
          </p:cNvPr>
          <p:cNvSpPr txBox="1"/>
          <p:nvPr/>
        </p:nvSpPr>
        <p:spPr>
          <a:xfrm>
            <a:off x="1572581" y="3931920"/>
            <a:ext cx="4523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/>
              <a:t>Petrášová, Mazurová, Vrána, </a:t>
            </a:r>
            <a:r>
              <a:rPr lang="cs-CZ" err="1"/>
              <a:t>Sumarokova</a:t>
            </a:r>
            <a:endParaRPr lang="cs-CZ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2304C4C-B10F-7E16-8D3E-23A44878CF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5825" y="419101"/>
            <a:ext cx="10934700" cy="1134534"/>
          </a:xfrm>
        </p:spPr>
        <p:txBody>
          <a:bodyPr lIns="0" tIns="0" rIns="0" bIns="0" anchor="t">
            <a:normAutofit/>
          </a:bodyPr>
          <a:lstStyle/>
          <a:p>
            <a:pPr marL="514350" indent="-514350">
              <a:buAutoNum type="arabicParenR"/>
            </a:pPr>
            <a:r>
              <a:rPr lang="cs-CZ"/>
              <a:t>Jogurt jako komodita</a:t>
            </a:r>
            <a:endParaRPr lang="en-US"/>
          </a:p>
          <a:p>
            <a:endParaRPr lang="cs-CZ"/>
          </a:p>
        </p:txBody>
      </p:sp>
      <p:sp>
        <p:nvSpPr>
          <p:cNvPr id="2" name="Zástupný obsah 1">
            <a:extLst>
              <a:ext uri="{FF2B5EF4-FFF2-40B4-BE49-F238E27FC236}">
                <a16:creationId xmlns:a16="http://schemas.microsoft.com/office/drawing/2014/main" id="{CB8E87D6-5CD5-640B-E554-1A27EF506409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85819" y="1553635"/>
            <a:ext cx="4506796" cy="4601632"/>
          </a:xfrm>
        </p:spPr>
        <p:txBody>
          <a:bodyPr>
            <a:norm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sz="2000"/>
              <a:t>Jeden z nejrozšířenějších a nejoblíbenějších fermentovaných mléčných výrobků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sz="2000"/>
              <a:t>Klíčovou roli hraje průběh fermentačního procesu a biochemická správnost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sz="2000"/>
              <a:t>Několik variant podle % tuku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sz="2000"/>
              <a:t>Přidaná hodnota přeměnou mléka</a:t>
            </a:r>
          </a:p>
          <a:p>
            <a:pPr marL="10287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sz="2000"/>
              <a:t>delší trvanlivost, </a:t>
            </a:r>
          </a:p>
          <a:p>
            <a:pPr marL="10287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sz="2000"/>
              <a:t>ekonomické přínosy, </a:t>
            </a:r>
          </a:p>
          <a:p>
            <a:pPr marL="10287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sz="2000"/>
              <a:t>zachování výživového profilu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sz="2000"/>
              <a:t>Součástí komoditní vertikály mléka</a:t>
            </a:r>
          </a:p>
        </p:txBody>
      </p:sp>
      <p:pic>
        <p:nvPicPr>
          <p:cNvPr id="6" name="Zástupný symbol obrázku 5">
            <a:extLst>
              <a:ext uri="{FF2B5EF4-FFF2-40B4-BE49-F238E27FC236}">
                <a16:creationId xmlns:a16="http://schemas.microsoft.com/office/drawing/2014/main" id="{461454B3-88A2-7A50-A79B-4D6B7F81D519}"/>
              </a:ext>
            </a:extLst>
          </p:cNvPr>
          <p:cNvPicPr>
            <a:picLocks noGrp="1" noChangeAspect="1"/>
          </p:cNvPicPr>
          <p:nvPr>
            <p:ph sz="half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615" y="2450288"/>
            <a:ext cx="6427910" cy="1166282"/>
          </a:xfrm>
          <a:prstGeom prst="rect">
            <a:avLst/>
          </a:prstGeom>
          <a:noFill/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ACCC9EE7-A7CE-0999-7FD6-D7A54F40692D}"/>
              </a:ext>
            </a:extLst>
          </p:cNvPr>
          <p:cNvSpPr txBox="1"/>
          <p:nvPr/>
        </p:nvSpPr>
        <p:spPr>
          <a:xfrm>
            <a:off x="5536862" y="3462036"/>
            <a:ext cx="40815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100" i="1" dirty="0"/>
              <a:t>Obrázek 1/ Komoditní vertikála mléka, zdroj: vlastní zpracování</a:t>
            </a:r>
          </a:p>
        </p:txBody>
      </p:sp>
    </p:spTree>
    <p:extLst>
      <p:ext uri="{BB962C8B-B14F-4D97-AF65-F5344CB8AC3E}">
        <p14:creationId xmlns:p14="http://schemas.microsoft.com/office/powerpoint/2010/main" val="3856913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60710F11-D0AA-1B5B-B931-477F9B2BC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822" y="1200150"/>
            <a:ext cx="5362577" cy="4703017"/>
          </a:xfrm>
        </p:spPr>
        <p:txBody>
          <a:bodyPr>
            <a:normAutofit/>
          </a:bodyPr>
          <a:lstStyle/>
          <a:p>
            <a:r>
              <a:rPr lang="cs-CZ" b="1"/>
              <a:t>Produkce ve světě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D9D729C-F971-39A5-0639-E574BB9710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5825" y="419101"/>
            <a:ext cx="10934700" cy="619125"/>
          </a:xfrm>
        </p:spPr>
        <p:txBody>
          <a:bodyPr lIns="0" tIns="0" rIns="0" bIns="0" anchor="t">
            <a:normAutofit/>
          </a:bodyPr>
          <a:lstStyle/>
          <a:p>
            <a:r>
              <a:rPr lang="cs-CZ"/>
              <a:t>2) Produkce bílého jogurtu</a:t>
            </a:r>
          </a:p>
        </p:txBody>
      </p:sp>
      <p:pic>
        <p:nvPicPr>
          <p:cNvPr id="52226" name="Picture 2">
            <a:extLst>
              <a:ext uri="{FF2B5EF4-FFF2-40B4-BE49-F238E27FC236}">
                <a16:creationId xmlns:a16="http://schemas.microsoft.com/office/drawing/2014/main" id="{0154251F-14C3-995B-2EE1-C8A0E4C1DD82}"/>
              </a:ext>
            </a:extLst>
          </p:cNvPr>
          <p:cNvPicPr>
            <a:picLocks noGrp="1" noChangeAspect="1" noChangeArrowheads="1"/>
          </p:cNvPicPr>
          <p:nvPr>
            <p:ph sz="half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1702934"/>
            <a:ext cx="5674302" cy="3049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ovéPole 9">
            <a:extLst>
              <a:ext uri="{FF2B5EF4-FFF2-40B4-BE49-F238E27FC236}">
                <a16:creationId xmlns:a16="http://schemas.microsoft.com/office/drawing/2014/main" id="{AF26F117-D4B2-6290-8870-AFE7460492AA}"/>
              </a:ext>
            </a:extLst>
          </p:cNvPr>
          <p:cNvSpPr txBox="1"/>
          <p:nvPr/>
        </p:nvSpPr>
        <p:spPr>
          <a:xfrm>
            <a:off x="885822" y="1956391"/>
            <a:ext cx="536257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/>
              <a:t>Top 3 producenti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400"/>
              <a:t>Německo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400"/>
              <a:t>Francie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400"/>
              <a:t>Rusko</a:t>
            </a:r>
          </a:p>
          <a:p>
            <a:pPr lvl="1"/>
            <a:endParaRPr lang="cs-CZ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/>
              <a:t>Silná pozice Německa z důvodu rozsáhlé základny mlékárenského průmyslu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EE0FC3EC-B187-51BA-0BCC-56AD65E6754D}"/>
              </a:ext>
            </a:extLst>
          </p:cNvPr>
          <p:cNvSpPr txBox="1"/>
          <p:nvPr/>
        </p:nvSpPr>
        <p:spPr>
          <a:xfrm>
            <a:off x="6096000" y="4748794"/>
            <a:ext cx="48752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100" i="1" dirty="0"/>
              <a:t>Graf1/ Celková produkce jogurtu ve světě, zdroj dat: FAO</a:t>
            </a:r>
          </a:p>
        </p:txBody>
      </p:sp>
    </p:spTree>
    <p:extLst>
      <p:ext uri="{BB962C8B-B14F-4D97-AF65-F5344CB8AC3E}">
        <p14:creationId xmlns:p14="http://schemas.microsoft.com/office/powerpoint/2010/main" val="812670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47DAE-1795-B394-4884-C94B5825F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A8FD91C2-7489-3370-A3C8-FF4C28A76C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822" y="1200150"/>
            <a:ext cx="5362577" cy="4703017"/>
          </a:xfrm>
        </p:spPr>
        <p:txBody>
          <a:bodyPr>
            <a:normAutofit/>
          </a:bodyPr>
          <a:lstStyle/>
          <a:p>
            <a:r>
              <a:rPr lang="cs-CZ" b="1"/>
              <a:t>Produkce v Evropě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E2B9538-4B97-46F0-231C-1C92EB498D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5825" y="419101"/>
            <a:ext cx="10934700" cy="619125"/>
          </a:xfrm>
        </p:spPr>
        <p:txBody>
          <a:bodyPr lIns="0" tIns="0" rIns="0" bIns="0" anchor="t">
            <a:normAutofit/>
          </a:bodyPr>
          <a:lstStyle/>
          <a:p>
            <a:r>
              <a:rPr lang="cs-CZ"/>
              <a:t>2) Produkce bílého jogurtu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3F41EACB-A97F-98FD-7F9D-5BA632684501}"/>
              </a:ext>
            </a:extLst>
          </p:cNvPr>
          <p:cNvSpPr txBox="1"/>
          <p:nvPr/>
        </p:nvSpPr>
        <p:spPr>
          <a:xfrm>
            <a:off x="885823" y="1956391"/>
            <a:ext cx="458558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/>
              <a:t>Top 3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/>
              <a:t>Německo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/>
              <a:t>Francie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/>
              <a:t>Španělsko</a:t>
            </a:r>
          </a:p>
          <a:p>
            <a:pPr lvl="1"/>
            <a:endParaRPr lang="cs-CZ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/>
              <a:t>Německo 22 % evropské produkce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/>
              <a:t>40 % produkce Řecka exportováno do zahraničí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 err="1"/>
              <a:t>Danone</a:t>
            </a:r>
            <a:r>
              <a:rPr lang="cs-CZ" sz="2400"/>
              <a:t>, </a:t>
            </a:r>
            <a:r>
              <a:rPr lang="cs-CZ" sz="2400" err="1"/>
              <a:t>Lactalis</a:t>
            </a:r>
            <a:r>
              <a:rPr lang="cs-CZ" sz="2400"/>
              <a:t> BH, Nestlé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cs-CZ" sz="2400"/>
          </a:p>
        </p:txBody>
      </p:sp>
      <p:graphicFrame>
        <p:nvGraphicFramePr>
          <p:cNvPr id="6" name="Zástupný obsah 4">
            <a:extLst>
              <a:ext uri="{FF2B5EF4-FFF2-40B4-BE49-F238E27FC236}">
                <a16:creationId xmlns:a16="http://schemas.microsoft.com/office/drawing/2014/main" id="{4ECC0E0F-D583-1EF1-9293-9CC726E1E81D}"/>
              </a:ext>
              <a:ext uri="{147F2762-F138-4A5C-976F-8EAC2B608ADB}">
                <a16:predDERef xmlns:a16="http://schemas.microsoft.com/office/drawing/2014/main" pred="{783B0B6B-4FF0-156C-9D91-441C475B9633}"/>
              </a:ext>
            </a:extLst>
          </p:cNvPr>
          <p:cNvGraphicFramePr>
            <a:graphicFrameLocks noGrp="1"/>
          </p:cNvGraphicFramePr>
          <p:nvPr>
            <p:ph sz="half" idx="15"/>
            <p:extLst>
              <p:ext uri="{D42A27DB-BD31-4B8C-83A1-F6EECF244321}">
                <p14:modId xmlns:p14="http://schemas.microsoft.com/office/powerpoint/2010/main" val="1782452609"/>
              </p:ext>
            </p:extLst>
          </p:nvPr>
        </p:nvGraphicFramePr>
        <p:xfrm>
          <a:off x="5471411" y="1026232"/>
          <a:ext cx="6199214" cy="4703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ovéPole 2">
            <a:extLst>
              <a:ext uri="{FF2B5EF4-FFF2-40B4-BE49-F238E27FC236}">
                <a16:creationId xmlns:a16="http://schemas.microsoft.com/office/drawing/2014/main" id="{21D9F725-1CC3-1110-9E33-742E32924EB4}"/>
              </a:ext>
            </a:extLst>
          </p:cNvPr>
          <p:cNvSpPr txBox="1"/>
          <p:nvPr/>
        </p:nvSpPr>
        <p:spPr>
          <a:xfrm>
            <a:off x="5471411" y="5772362"/>
            <a:ext cx="35269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100" i="1" dirty="0"/>
              <a:t>Graf 2/Evropská produkce jogurtu, zdroj dat: FAO</a:t>
            </a:r>
          </a:p>
        </p:txBody>
      </p:sp>
    </p:spTree>
    <p:extLst>
      <p:ext uri="{BB962C8B-B14F-4D97-AF65-F5344CB8AC3E}">
        <p14:creationId xmlns:p14="http://schemas.microsoft.com/office/powerpoint/2010/main" val="907101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36D2AB-4233-60BE-3951-E40B63524A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lIns="0" tIns="0" rIns="0" bIns="0" anchor="t"/>
          <a:lstStyle/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Všechny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cenové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řady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vykazují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dlouhodobě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rostoucí</a:t>
            </a:r>
            <a:r>
              <a:rPr lang="en-US" b="1">
                <a:ea typeface="+mn-lt"/>
                <a:cs typeface="+mn-lt"/>
              </a:rPr>
              <a:t> trend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Největší </a:t>
            </a:r>
            <a:r>
              <a:rPr lang="en-US" err="1">
                <a:ea typeface="+mn-lt"/>
                <a:cs typeface="+mn-lt"/>
              </a:rPr>
              <a:t>dynamiku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volatilitu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měla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CZV </a:t>
            </a:r>
            <a:r>
              <a:rPr lang="en-US" b="1" err="1">
                <a:ea typeface="+mn-lt"/>
                <a:cs typeface="+mn-lt"/>
              </a:rPr>
              <a:t>mléka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Do </a:t>
            </a:r>
            <a:r>
              <a:rPr lang="en-US" err="1">
                <a:ea typeface="+mn-lt"/>
                <a:cs typeface="+mn-lt"/>
              </a:rPr>
              <a:t>roku</a:t>
            </a:r>
            <a:r>
              <a:rPr lang="en-US">
                <a:ea typeface="+mn-lt"/>
                <a:cs typeface="+mn-lt"/>
              </a:rPr>
              <a:t> 2021 </a:t>
            </a:r>
            <a:r>
              <a:rPr lang="en-US" err="1">
                <a:ea typeface="+mn-lt"/>
                <a:cs typeface="+mn-lt"/>
              </a:rPr>
              <a:t>byl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vývoj</a:t>
            </a:r>
            <a:r>
              <a:rPr lang="en-US">
                <a:ea typeface="+mn-lt"/>
                <a:cs typeface="+mn-lt"/>
              </a:rPr>
              <a:t> CPV a SC </a:t>
            </a:r>
            <a:r>
              <a:rPr lang="en-US" err="1">
                <a:ea typeface="+mn-lt"/>
                <a:cs typeface="+mn-lt"/>
              </a:rPr>
              <a:t>spíše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mírný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Po </a:t>
            </a:r>
            <a:r>
              <a:rPr lang="en-US" err="1">
                <a:ea typeface="+mn-lt"/>
                <a:cs typeface="+mn-lt"/>
              </a:rPr>
              <a:t>roce</a:t>
            </a:r>
            <a:r>
              <a:rPr lang="en-US">
                <a:ea typeface="+mn-lt"/>
                <a:cs typeface="+mn-lt"/>
              </a:rPr>
              <a:t> 2021 </a:t>
            </a:r>
            <a:r>
              <a:rPr lang="en-US" err="1">
                <a:ea typeface="+mn-lt"/>
                <a:cs typeface="+mn-lt"/>
              </a:rPr>
              <a:t>došlo</a:t>
            </a:r>
            <a:r>
              <a:rPr lang="en-US">
                <a:ea typeface="+mn-lt"/>
                <a:cs typeface="+mn-lt"/>
              </a:rPr>
              <a:t> k </a:t>
            </a:r>
            <a:r>
              <a:rPr lang="en-US" err="1">
                <a:ea typeface="+mn-lt"/>
                <a:cs typeface="+mn-lt"/>
              </a:rPr>
              <a:t>výraznějšímu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růstu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všech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cenových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úrovní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endParaRPr lang="en-US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84B16-3E2B-9E64-D57A-DA8CEB08AC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US" b="0" dirty="0">
                <a:ea typeface="+mn-lt"/>
                <a:cs typeface="+mn-lt"/>
              </a:rPr>
              <a:t>3) </a:t>
            </a:r>
            <a:r>
              <a:rPr lang="en-US" dirty="0" err="1">
                <a:ea typeface="+mn-lt"/>
                <a:cs typeface="+mn-lt"/>
              </a:rPr>
              <a:t>Nominální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vývoj</a:t>
            </a:r>
            <a:r>
              <a:rPr lang="en-US" dirty="0">
                <a:ea typeface="+mn-lt"/>
                <a:cs typeface="+mn-lt"/>
              </a:rPr>
              <a:t> CZV, CPV a SC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36B4A4-C77C-32BD-797D-A8CD5CD59881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>
            <a:off x="6457948" y="2282276"/>
            <a:ext cx="5362577" cy="253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279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1A8EA-233E-88AA-0295-F06128BD8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09285F-6EAE-E5DF-4FB1-1F632A708C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822" y="1200150"/>
            <a:ext cx="8471887" cy="5333637"/>
          </a:xfrm>
        </p:spPr>
        <p:txBody>
          <a:bodyPr lIns="0" tIns="0" rIns="0" bIns="0" anchor="t"/>
          <a:lstStyle/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CZV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reagovala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nejcitlivěji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tržní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nákladové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šoky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CPV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rostla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stabilněji</a:t>
            </a:r>
            <a:r>
              <a:rPr lang="en-US">
                <a:ea typeface="+mn-lt"/>
                <a:cs typeface="+mn-lt"/>
              </a:rPr>
              <a:t>, ale od </a:t>
            </a:r>
            <a:r>
              <a:rPr lang="en-US" err="1">
                <a:ea typeface="+mn-lt"/>
                <a:cs typeface="+mn-lt"/>
              </a:rPr>
              <a:t>roku</a:t>
            </a:r>
            <a:r>
              <a:rPr lang="en-US">
                <a:ea typeface="+mn-lt"/>
                <a:cs typeface="+mn-lt"/>
              </a:rPr>
              <a:t> 2022 </a:t>
            </a:r>
            <a:r>
              <a:rPr lang="en-US" err="1">
                <a:ea typeface="+mn-lt"/>
                <a:cs typeface="+mn-lt"/>
              </a:rPr>
              <a:t>výrazněji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SC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měla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nejplynulejší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vývoj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menší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amplitudu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změn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Přenos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mezi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jednotlivými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úrovněmi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není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automatický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Vývoj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ovlivňují</a:t>
            </a:r>
            <a:r>
              <a:rPr lang="en-US">
                <a:ea typeface="+mn-lt"/>
                <a:cs typeface="+mn-lt"/>
              </a:rPr>
              <a:t>: </a:t>
            </a:r>
            <a:r>
              <a:rPr lang="en-US" err="1">
                <a:ea typeface="+mn-lt"/>
                <a:cs typeface="+mn-lt"/>
              </a:rPr>
              <a:t>náklady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energie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doprava</a:t>
            </a:r>
            <a:r>
              <a:rPr lang="en-US">
                <a:ea typeface="+mn-lt"/>
                <a:cs typeface="+mn-lt"/>
              </a:rPr>
              <a:t>, </a:t>
            </a:r>
            <a:r>
              <a:rPr lang="en-US" err="1">
                <a:ea typeface="+mn-lt"/>
                <a:cs typeface="+mn-lt"/>
              </a:rPr>
              <a:t>zpracování,marže,konkurenční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prostředí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cenová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politika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obchodních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řetězců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en-US">
              <a:cs typeface="Arial"/>
            </a:endParaRPr>
          </a:p>
          <a:p>
            <a:endParaRPr lang="en-US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974A2-64D4-A2E2-3770-2C5395D488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US">
                <a:ea typeface="+mn-lt"/>
                <a:cs typeface="+mn-lt"/>
              </a:rPr>
              <a:t>3) </a:t>
            </a:r>
            <a:r>
              <a:rPr lang="en-US" err="1">
                <a:ea typeface="+mn-lt"/>
                <a:cs typeface="+mn-lt"/>
              </a:rPr>
              <a:t>Cenové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změny</a:t>
            </a:r>
            <a:r>
              <a:rPr lang="en-US">
                <a:ea typeface="+mn-lt"/>
                <a:cs typeface="+mn-lt"/>
              </a:rPr>
              <a:t> se </a:t>
            </a:r>
            <a:r>
              <a:rPr lang="en-US" err="1">
                <a:ea typeface="+mn-lt"/>
                <a:cs typeface="+mn-lt"/>
              </a:rPr>
              <a:t>nepřenášely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stejnou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intenzitou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779453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43B58A-9B32-E42B-0D03-0552D61E0F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822" y="1200150"/>
            <a:ext cx="11005235" cy="4703017"/>
          </a:xfrm>
        </p:spPr>
        <p:txBody>
          <a:bodyPr lIns="0" tIns="0" rIns="0" bIns="0" anchor="t"/>
          <a:lstStyle/>
          <a:p>
            <a:pPr>
              <a:buFont typeface=""/>
              <a:buChar char="•"/>
            </a:pPr>
            <a:r>
              <a:rPr lang="en-US"/>
              <a:t>Byl </a:t>
            </a:r>
            <a:r>
              <a:rPr lang="en-US" err="1"/>
              <a:t>sledován</a:t>
            </a:r>
            <a:r>
              <a:rPr lang="en-US"/>
              <a:t> </a:t>
            </a:r>
            <a:r>
              <a:rPr lang="en-US" err="1"/>
              <a:t>počet</a:t>
            </a:r>
            <a:r>
              <a:rPr lang="en-US"/>
              <a:t> </a:t>
            </a:r>
            <a:r>
              <a:rPr lang="en-US" err="1"/>
              <a:t>mediálních</a:t>
            </a:r>
            <a:r>
              <a:rPr lang="en-US"/>
              <a:t> </a:t>
            </a:r>
            <a:r>
              <a:rPr lang="en-US" err="1"/>
              <a:t>výstupů</a:t>
            </a:r>
            <a:r>
              <a:rPr lang="en-US"/>
              <a:t> </a:t>
            </a:r>
            <a:r>
              <a:rPr lang="en-US" err="1"/>
              <a:t>obsahujících</a:t>
            </a:r>
            <a:r>
              <a:rPr lang="en-US"/>
              <a:t> </a:t>
            </a:r>
            <a:r>
              <a:rPr lang="en-US" err="1"/>
              <a:t>slova</a:t>
            </a:r>
            <a:r>
              <a:rPr lang="en-US"/>
              <a:t> </a:t>
            </a:r>
            <a:r>
              <a:rPr lang="en-US" b="1"/>
              <a:t>„</a:t>
            </a:r>
            <a:r>
              <a:rPr lang="en-US" b="1" err="1"/>
              <a:t>jogurt</a:t>
            </a:r>
            <a:r>
              <a:rPr lang="en-US" b="1"/>
              <a:t>“ AND „</a:t>
            </a:r>
            <a:r>
              <a:rPr lang="en-US" b="1" err="1"/>
              <a:t>cena</a:t>
            </a:r>
            <a:r>
              <a:rPr lang="en-US" b="1"/>
              <a:t>“</a:t>
            </a:r>
            <a:r>
              <a:rPr lang="en-US"/>
              <a:t>.</a:t>
            </a:r>
          </a:p>
          <a:p>
            <a:pPr>
              <a:buFont typeface=""/>
              <a:buChar char="•"/>
            </a:pPr>
            <a:r>
              <a:rPr lang="en-US"/>
              <a:t>Od </a:t>
            </a:r>
            <a:r>
              <a:rPr lang="en-US" err="1"/>
              <a:t>druhé</a:t>
            </a:r>
            <a:r>
              <a:rPr lang="en-US"/>
              <a:t> </a:t>
            </a:r>
            <a:r>
              <a:rPr lang="en-US" err="1"/>
              <a:t>poloviny</a:t>
            </a:r>
            <a:r>
              <a:rPr lang="en-US"/>
              <a:t> </a:t>
            </a:r>
            <a:r>
              <a:rPr lang="en-US" err="1"/>
              <a:t>roku</a:t>
            </a:r>
            <a:r>
              <a:rPr lang="en-US"/>
              <a:t> 2021 je </a:t>
            </a:r>
            <a:r>
              <a:rPr lang="en-US" err="1"/>
              <a:t>patrný</a:t>
            </a:r>
            <a:r>
              <a:rPr lang="en-US"/>
              <a:t> </a:t>
            </a:r>
            <a:r>
              <a:rPr lang="en-US" err="1"/>
              <a:t>nárůst</a:t>
            </a:r>
            <a:r>
              <a:rPr lang="en-US"/>
              <a:t> </a:t>
            </a:r>
            <a:r>
              <a:rPr lang="en-US" err="1"/>
              <a:t>mediálních</a:t>
            </a:r>
            <a:r>
              <a:rPr lang="en-US"/>
              <a:t> </a:t>
            </a:r>
            <a:r>
              <a:rPr lang="en-US" err="1"/>
              <a:t>výstupů</a:t>
            </a:r>
            <a:r>
              <a:rPr lang="en-US"/>
              <a:t>.</a:t>
            </a:r>
          </a:p>
          <a:p>
            <a:pPr>
              <a:buFont typeface=""/>
              <a:buChar char="•"/>
            </a:pPr>
            <a:r>
              <a:rPr lang="en-US" err="1"/>
              <a:t>Tento</a:t>
            </a:r>
            <a:r>
              <a:rPr lang="en-US"/>
              <a:t> </a:t>
            </a:r>
            <a:r>
              <a:rPr lang="en-US" err="1"/>
              <a:t>nárůst</a:t>
            </a:r>
            <a:r>
              <a:rPr lang="en-US"/>
              <a:t> </a:t>
            </a:r>
            <a:r>
              <a:rPr lang="en-US" err="1"/>
              <a:t>časově</a:t>
            </a:r>
            <a:r>
              <a:rPr lang="en-US"/>
              <a:t> </a:t>
            </a:r>
            <a:r>
              <a:rPr lang="en-US" err="1"/>
              <a:t>odpovídá</a:t>
            </a:r>
            <a:r>
              <a:rPr lang="en-US"/>
              <a:t> </a:t>
            </a:r>
            <a:r>
              <a:rPr lang="en-US" err="1"/>
              <a:t>růstu</a:t>
            </a:r>
            <a:r>
              <a:rPr lang="en-US"/>
              <a:t> </a:t>
            </a:r>
            <a:r>
              <a:rPr lang="en-US" err="1"/>
              <a:t>spotřebitelských</a:t>
            </a:r>
            <a:r>
              <a:rPr lang="en-US"/>
              <a:t> cen.</a:t>
            </a:r>
          </a:p>
          <a:p>
            <a:pPr>
              <a:buFont typeface=""/>
              <a:buChar char="•"/>
            </a:pPr>
            <a:r>
              <a:rPr lang="en-US" err="1"/>
              <a:t>Souvislost</a:t>
            </a:r>
            <a:r>
              <a:rPr lang="en-US"/>
              <a:t> </a:t>
            </a:r>
            <a:r>
              <a:rPr lang="en-US" err="1"/>
              <a:t>však</a:t>
            </a:r>
            <a:r>
              <a:rPr lang="en-US"/>
              <a:t> </a:t>
            </a:r>
            <a:r>
              <a:rPr lang="en-US" err="1"/>
              <a:t>nebylo</a:t>
            </a:r>
            <a:r>
              <a:rPr lang="en-US"/>
              <a:t> </a:t>
            </a:r>
            <a:r>
              <a:rPr lang="en-US" err="1"/>
              <a:t>možné</a:t>
            </a:r>
            <a:r>
              <a:rPr lang="en-US"/>
              <a:t> </a:t>
            </a:r>
            <a:r>
              <a:rPr lang="en-US" err="1"/>
              <a:t>statisticky</a:t>
            </a:r>
            <a:r>
              <a:rPr lang="en-US"/>
              <a:t> </a:t>
            </a:r>
            <a:r>
              <a:rPr lang="en-US" err="1"/>
              <a:t>ověřit</a:t>
            </a:r>
            <a:r>
              <a:rPr lang="en-US"/>
              <a:t>, </a:t>
            </a:r>
            <a:r>
              <a:rPr lang="en-US" err="1"/>
              <a:t>protože</a:t>
            </a:r>
            <a:r>
              <a:rPr lang="en-US"/>
              <a:t> </a:t>
            </a:r>
            <a:r>
              <a:rPr lang="en-US" err="1"/>
              <a:t>databáze</a:t>
            </a:r>
            <a:r>
              <a:rPr lang="en-US"/>
              <a:t> Newton </a:t>
            </a:r>
            <a:r>
              <a:rPr lang="en-US" err="1"/>
              <a:t>neumožnila</a:t>
            </a:r>
            <a:r>
              <a:rPr lang="en-US"/>
              <a:t> export dat.</a:t>
            </a:r>
            <a:endParaRPr lang="en-US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2D6EC-D2C9-24D2-1FC4-DB9484F273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US" b="0">
                <a:ea typeface="+mn-lt"/>
                <a:cs typeface="+mn-lt"/>
              </a:rPr>
              <a:t>3) Mediální </a:t>
            </a:r>
            <a:r>
              <a:rPr lang="en-US" b="0" err="1">
                <a:ea typeface="+mn-lt"/>
                <a:cs typeface="+mn-lt"/>
              </a:rPr>
              <a:t>obraz</a:t>
            </a:r>
            <a:r>
              <a:rPr lang="en-US" b="0">
                <a:ea typeface="+mn-lt"/>
                <a:cs typeface="+mn-lt"/>
              </a:rPr>
              <a:t> </a:t>
            </a:r>
            <a:r>
              <a:rPr lang="en-US" b="0" err="1">
                <a:ea typeface="+mn-lt"/>
                <a:cs typeface="+mn-lt"/>
              </a:rPr>
              <a:t>vývoje</a:t>
            </a:r>
            <a:r>
              <a:rPr lang="en-US" b="0">
                <a:ea typeface="+mn-lt"/>
                <a:cs typeface="+mn-lt"/>
              </a:rPr>
              <a:t> </a:t>
            </a:r>
            <a:r>
              <a:rPr lang="en-US" b="0" err="1">
                <a:ea typeface="+mn-lt"/>
                <a:cs typeface="+mn-lt"/>
              </a:rPr>
              <a:t>cen</a:t>
            </a:r>
            <a:endParaRPr lang="en-US" err="1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12E3B3-D747-7C2E-36DA-FD35C381B2AC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>
            <a:off x="882809" y="4205771"/>
            <a:ext cx="10937716" cy="251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691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BE7F54-419C-A154-D569-31C6B1ADB8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822" y="1200150"/>
            <a:ext cx="5362577" cy="5237292"/>
          </a:xfrm>
        </p:spPr>
        <p:txBody>
          <a:bodyPr lIns="0" tIns="0" rIns="0" bIns="0" anchor="t"/>
          <a:lstStyle/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Cenové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řady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byly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očištěny</a:t>
            </a:r>
            <a:r>
              <a:rPr lang="en-US">
                <a:ea typeface="+mn-lt"/>
                <a:cs typeface="+mn-lt"/>
              </a:rPr>
              <a:t> o </a:t>
            </a:r>
            <a:r>
              <a:rPr lang="en-US" err="1">
                <a:ea typeface="+mn-lt"/>
                <a:cs typeface="+mn-lt"/>
              </a:rPr>
              <a:t>inflaci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pomocí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měsíční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míry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inflace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V </a:t>
            </a:r>
            <a:r>
              <a:rPr lang="en-US" err="1">
                <a:ea typeface="+mn-lt"/>
                <a:cs typeface="+mn-lt"/>
              </a:rPr>
              <a:t>reálném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vyjádření</a:t>
            </a:r>
            <a:r>
              <a:rPr lang="en-US">
                <a:ea typeface="+mn-lt"/>
                <a:cs typeface="+mn-lt"/>
              </a:rPr>
              <a:t> je </a:t>
            </a:r>
            <a:r>
              <a:rPr lang="en-US" err="1">
                <a:ea typeface="+mn-lt"/>
                <a:cs typeface="+mn-lt"/>
              </a:rPr>
              <a:t>růst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</a:t>
            </a:r>
            <a:r>
              <a:rPr lang="en-US">
                <a:ea typeface="+mn-lt"/>
                <a:cs typeface="+mn-lt"/>
              </a:rPr>
              <a:t> po </a:t>
            </a:r>
            <a:r>
              <a:rPr lang="en-US" err="1">
                <a:ea typeface="+mn-lt"/>
                <a:cs typeface="+mn-lt"/>
              </a:rPr>
              <a:t>roce</a:t>
            </a:r>
            <a:r>
              <a:rPr lang="en-US">
                <a:ea typeface="+mn-lt"/>
                <a:cs typeface="+mn-lt"/>
              </a:rPr>
              <a:t> 2021 </a:t>
            </a:r>
            <a:r>
              <a:rPr lang="en-US" err="1">
                <a:ea typeface="+mn-lt"/>
                <a:cs typeface="+mn-lt"/>
              </a:rPr>
              <a:t>méně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výrazný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 </a:t>
            </a:r>
            <a:r>
              <a:rPr lang="en-US" b="1">
                <a:ea typeface="+mn-lt"/>
                <a:cs typeface="+mn-lt"/>
              </a:rPr>
              <a:t>SC</a:t>
            </a:r>
            <a:r>
              <a:rPr lang="en-US">
                <a:ea typeface="+mn-lt"/>
                <a:cs typeface="+mn-lt"/>
              </a:rPr>
              <a:t> se </a:t>
            </a:r>
            <a:r>
              <a:rPr lang="en-US" err="1">
                <a:ea typeface="+mn-lt"/>
                <a:cs typeface="+mn-lt"/>
              </a:rPr>
              <a:t>nominální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zdražení</a:t>
            </a:r>
            <a:r>
              <a:rPr lang="en-US">
                <a:ea typeface="+mn-lt"/>
                <a:cs typeface="+mn-lt"/>
              </a:rPr>
              <a:t> po </a:t>
            </a:r>
            <a:r>
              <a:rPr lang="en-US" err="1">
                <a:ea typeface="+mn-lt"/>
                <a:cs typeface="+mn-lt"/>
              </a:rPr>
              <a:t>očištění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mění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spíše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stagnaci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mírný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pokles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 </a:t>
            </a:r>
            <a:r>
              <a:rPr lang="en-US" b="1">
                <a:ea typeface="+mn-lt"/>
                <a:cs typeface="+mn-lt"/>
              </a:rPr>
              <a:t>CPV</a:t>
            </a:r>
            <a:r>
              <a:rPr lang="en-US">
                <a:ea typeface="+mn-lt"/>
                <a:cs typeface="+mn-lt"/>
              </a:rPr>
              <a:t> se </a:t>
            </a:r>
            <a:r>
              <a:rPr lang="en-US" err="1">
                <a:ea typeface="+mn-lt"/>
                <a:cs typeface="+mn-lt"/>
              </a:rPr>
              <a:t>ukazuje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stabilnější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reálný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vývoj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 </a:t>
            </a:r>
            <a:r>
              <a:rPr lang="en-US" b="1">
                <a:ea typeface="+mn-lt"/>
                <a:cs typeface="+mn-lt"/>
              </a:rPr>
              <a:t>CZV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přetrvává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vyšší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volatilita</a:t>
            </a:r>
            <a:r>
              <a:rPr lang="en-US">
                <a:ea typeface="+mn-lt"/>
                <a:cs typeface="+mn-lt"/>
              </a:rPr>
              <a:t>, ale </a:t>
            </a:r>
            <a:r>
              <a:rPr lang="en-US" err="1">
                <a:ea typeface="+mn-lt"/>
                <a:cs typeface="+mn-lt"/>
              </a:rPr>
              <a:t>část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růstu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byla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způsobena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obecnou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inflací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endParaRPr lang="en-US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89C35-9018-D4C6-F16F-7426926DFB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US">
                <a:ea typeface="+mn-lt"/>
                <a:cs typeface="+mn-lt"/>
              </a:rPr>
              <a:t>3) Po </a:t>
            </a:r>
            <a:r>
              <a:rPr lang="en-US" err="1">
                <a:ea typeface="+mn-lt"/>
                <a:cs typeface="+mn-lt"/>
              </a:rPr>
              <a:t>očištění</a:t>
            </a:r>
            <a:r>
              <a:rPr lang="en-US">
                <a:ea typeface="+mn-lt"/>
                <a:cs typeface="+mn-lt"/>
              </a:rPr>
              <a:t> o </a:t>
            </a:r>
            <a:r>
              <a:rPr lang="en-US" err="1">
                <a:ea typeface="+mn-lt"/>
                <a:cs typeface="+mn-lt"/>
              </a:rPr>
              <a:t>inflaci</a:t>
            </a:r>
            <a:r>
              <a:rPr lang="en-US">
                <a:ea typeface="+mn-lt"/>
                <a:cs typeface="+mn-lt"/>
              </a:rPr>
              <a:t> je </a:t>
            </a:r>
            <a:r>
              <a:rPr lang="en-US" err="1">
                <a:ea typeface="+mn-lt"/>
                <a:cs typeface="+mn-lt"/>
              </a:rPr>
              <a:t>růst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výrazně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mírnější</a:t>
            </a:r>
            <a:endParaRPr lang="en-US" err="1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39FEA3-4C79-C570-1557-30E75909B85C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>
            <a:off x="6351847" y="3347034"/>
            <a:ext cx="5362577" cy="2396235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B8BACDE5-A0A2-D819-2E51-444B19158F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" t="-263" b="9473"/>
          <a:stretch>
            <a:fillRect/>
          </a:stretch>
        </p:blipFill>
        <p:spPr>
          <a:xfrm>
            <a:off x="6355584" y="1040963"/>
            <a:ext cx="5358840" cy="23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860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CC996FFC-707F-8E46-2DF6-B089DAE7A58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360190" y="1043684"/>
            <a:ext cx="5362577" cy="341173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597A8-F9E6-B553-6C46-63092BF7E4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GB">
                <a:cs typeface="Arial"/>
              </a:rPr>
              <a:t>4) </a:t>
            </a:r>
            <a:r>
              <a:rPr lang="en-GB" err="1">
                <a:cs typeface="Arial"/>
              </a:rPr>
              <a:t>Agrární</a:t>
            </a:r>
            <a:r>
              <a:rPr lang="en-GB">
                <a:cs typeface="Arial"/>
              </a:rPr>
              <a:t> </a:t>
            </a:r>
            <a:r>
              <a:rPr lang="en-GB" err="1">
                <a:cs typeface="Arial"/>
              </a:rPr>
              <a:t>zahraniční</a:t>
            </a:r>
            <a:r>
              <a:rPr lang="en-GB">
                <a:cs typeface="Arial"/>
              </a:rPr>
              <a:t> </a:t>
            </a:r>
            <a:r>
              <a:rPr lang="en-GB" err="1">
                <a:cs typeface="Arial"/>
              </a:rPr>
              <a:t>obchod</a:t>
            </a:r>
            <a:endParaRPr lang="en-GB" err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8F2ECA-17BB-34B1-A367-17425FE2E377}"/>
              </a:ext>
            </a:extLst>
          </p:cNvPr>
          <p:cNvSpPr txBox="1"/>
          <p:nvPr/>
        </p:nvSpPr>
        <p:spPr>
          <a:xfrm>
            <a:off x="932447" y="1253289"/>
            <a:ext cx="512344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err="1">
                <a:latin typeface="Arial"/>
                <a:cs typeface="Arial"/>
              </a:rPr>
              <a:t>Celková</a:t>
            </a:r>
            <a:r>
              <a:rPr lang="en-GB">
                <a:latin typeface="Arial"/>
                <a:cs typeface="Arial"/>
              </a:rPr>
              <a:t> </a:t>
            </a:r>
            <a:r>
              <a:rPr lang="en-GB" err="1">
                <a:latin typeface="Arial"/>
                <a:cs typeface="Arial"/>
              </a:rPr>
              <a:t>výroba</a:t>
            </a:r>
            <a:r>
              <a:rPr lang="en-GB">
                <a:latin typeface="Arial"/>
                <a:cs typeface="Arial"/>
              </a:rPr>
              <a:t> - </a:t>
            </a:r>
            <a:r>
              <a:rPr lang="en-GB" err="1">
                <a:latin typeface="Arial"/>
                <a:cs typeface="Arial"/>
              </a:rPr>
              <a:t>poměrně</a:t>
            </a:r>
            <a:r>
              <a:rPr lang="en-GB">
                <a:latin typeface="Arial"/>
                <a:cs typeface="Arial"/>
              </a:rPr>
              <a:t> </a:t>
            </a:r>
            <a:r>
              <a:rPr lang="en-GB" err="1">
                <a:latin typeface="Arial"/>
                <a:cs typeface="Arial"/>
              </a:rPr>
              <a:t>stabilní</a:t>
            </a:r>
            <a:r>
              <a:rPr lang="en-GB">
                <a:latin typeface="Arial"/>
                <a:cs typeface="Arial"/>
              </a:rPr>
              <a:t> </a:t>
            </a:r>
            <a:r>
              <a:rPr lang="en-GB" err="1">
                <a:latin typeface="Arial"/>
                <a:cs typeface="Arial"/>
              </a:rPr>
              <a:t>hodnota</a:t>
            </a:r>
            <a:endParaRPr lang="en-GB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latin typeface="Arial"/>
                <a:cs typeface="Arial"/>
              </a:rPr>
              <a:t>Export </a:t>
            </a:r>
            <a:r>
              <a:rPr lang="en-GB" err="1">
                <a:latin typeface="Arial"/>
                <a:cs typeface="Arial"/>
              </a:rPr>
              <a:t>převažuje</a:t>
            </a:r>
            <a:r>
              <a:rPr lang="en-GB">
                <a:latin typeface="Arial"/>
                <a:cs typeface="Arial"/>
              </a:rPr>
              <a:t> </a:t>
            </a:r>
            <a:r>
              <a:rPr lang="en-GB" err="1">
                <a:latin typeface="Arial"/>
                <a:cs typeface="Arial"/>
              </a:rPr>
              <a:t>nad</a:t>
            </a:r>
            <a:r>
              <a:rPr lang="en-GB">
                <a:latin typeface="Arial"/>
                <a:cs typeface="Arial"/>
              </a:rPr>
              <a:t> </a:t>
            </a:r>
            <a:r>
              <a:rPr lang="en-GB" err="1">
                <a:latin typeface="Arial"/>
                <a:cs typeface="Arial"/>
              </a:rPr>
              <a:t>Importem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latin typeface="Arial"/>
                <a:cs typeface="Arial"/>
              </a:rPr>
              <a:t>Od 2022 </a:t>
            </a:r>
            <a:r>
              <a:rPr lang="en-GB" err="1">
                <a:latin typeface="Arial"/>
                <a:cs typeface="Arial"/>
              </a:rPr>
              <a:t>pokles</a:t>
            </a:r>
            <a:r>
              <a:rPr lang="en-GB">
                <a:latin typeface="Arial"/>
                <a:cs typeface="Arial"/>
              </a:rPr>
              <a:t> </a:t>
            </a:r>
            <a:r>
              <a:rPr lang="en-GB" err="1">
                <a:latin typeface="Arial"/>
                <a:cs typeface="Arial"/>
              </a:rPr>
              <a:t>výroby</a:t>
            </a:r>
            <a:r>
              <a:rPr lang="en-GB">
                <a:latin typeface="Arial"/>
                <a:cs typeface="Arial"/>
              </a:rPr>
              <a:t>, </a:t>
            </a:r>
            <a:r>
              <a:rPr lang="en-GB" err="1">
                <a:latin typeface="Arial"/>
                <a:cs typeface="Arial"/>
              </a:rPr>
              <a:t>nárůst</a:t>
            </a:r>
            <a:r>
              <a:rPr lang="en-GB">
                <a:latin typeface="Arial"/>
                <a:cs typeface="Arial"/>
              </a:rPr>
              <a:t> </a:t>
            </a:r>
            <a:r>
              <a:rPr lang="en-GB" err="1">
                <a:latin typeface="Arial"/>
                <a:cs typeface="Arial"/>
              </a:rPr>
              <a:t>dovozu</a:t>
            </a:r>
            <a:endParaRPr lang="en-GB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latin typeface="Arial"/>
                <a:cs typeface="Arial"/>
              </a:rPr>
              <a:t>U </a:t>
            </a:r>
            <a:r>
              <a:rPr lang="en-GB" err="1">
                <a:latin typeface="Arial"/>
                <a:cs typeface="Arial"/>
              </a:rPr>
              <a:t>spotřebitelských</a:t>
            </a:r>
            <a:r>
              <a:rPr lang="en-GB">
                <a:latin typeface="Arial"/>
                <a:cs typeface="Arial"/>
              </a:rPr>
              <a:t> </a:t>
            </a:r>
            <a:r>
              <a:rPr lang="en-GB" err="1">
                <a:latin typeface="Arial"/>
                <a:cs typeface="Arial"/>
              </a:rPr>
              <a:t>cen</a:t>
            </a:r>
            <a:r>
              <a:rPr lang="en-GB">
                <a:latin typeface="Arial"/>
                <a:cs typeface="Arial"/>
              </a:rPr>
              <a:t> </a:t>
            </a:r>
            <a:r>
              <a:rPr lang="en-GB" err="1">
                <a:latin typeface="Arial"/>
                <a:cs typeface="Arial"/>
              </a:rPr>
              <a:t>vidíme</a:t>
            </a:r>
            <a:r>
              <a:rPr lang="en-GB">
                <a:latin typeface="Arial"/>
                <a:cs typeface="Arial"/>
              </a:rPr>
              <a:t> </a:t>
            </a:r>
            <a:r>
              <a:rPr lang="en-GB" err="1">
                <a:latin typeface="Arial"/>
                <a:cs typeface="Arial"/>
              </a:rPr>
              <a:t>nárůst</a:t>
            </a:r>
            <a:endParaRPr lang="en-GB" err="1">
              <a:cs typeface="Arial" panose="020B0604020202020204" pitchFamily="34" charset="0"/>
            </a:endParaRPr>
          </a:p>
        </p:txBody>
      </p:sp>
      <p:pic>
        <p:nvPicPr>
          <p:cNvPr id="7" name="Picture 6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A9C376F9-201B-6BB5-1759-BB7AA9BF3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31" y="2995313"/>
            <a:ext cx="573405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74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96C6E1-5AC1-0565-90C7-2883906E1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822" y="1200151"/>
            <a:ext cx="3859669" cy="3851502"/>
          </a:xfrm>
        </p:spPr>
        <p:txBody>
          <a:bodyPr lIns="0" tIns="0" rIns="0" bIns="0" anchor="t"/>
          <a:lstStyle/>
          <a:p>
            <a:r>
              <a:rPr lang="cs-CZ" sz="2000">
                <a:ea typeface="+mn-lt"/>
                <a:cs typeface="+mn-lt"/>
              </a:rPr>
              <a:t>Komparace: Česká republika, Německo, Polsko</a:t>
            </a:r>
            <a:endParaRPr lang="en-US"/>
          </a:p>
          <a:p>
            <a:r>
              <a:rPr lang="cs-CZ" sz="2000"/>
              <a:t>Zrušení mléčných kvót (2015) -vyšší konkurence</a:t>
            </a:r>
            <a:endParaRPr lang="cs-CZ" sz="2000">
              <a:cs typeface="Arial"/>
            </a:endParaRPr>
          </a:p>
          <a:p>
            <a:r>
              <a:rPr lang="cs-CZ" sz="2000">
                <a:ea typeface="+mn-lt"/>
                <a:cs typeface="+mn-lt"/>
              </a:rPr>
              <a:t>Od 2021: prudký nárůst cen v důsledku nákladových šoků</a:t>
            </a:r>
            <a:endParaRPr lang="cs-CZ"/>
          </a:p>
          <a:p>
            <a:r>
              <a:rPr lang="cs-CZ" sz="2000"/>
              <a:t>Faktory ovlivnujici ceny: </a:t>
            </a:r>
            <a:endParaRPr lang="cs-CZ" sz="2000"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cs-CZ" sz="2000"/>
              <a:t>Mléko</a:t>
            </a:r>
            <a:endParaRPr lang="cs-CZ" sz="2000"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cs-CZ" sz="2000"/>
              <a:t>Energie</a:t>
            </a:r>
            <a:endParaRPr lang="cs-CZ" sz="2000"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cs-CZ" sz="2000"/>
              <a:t>Krmiva</a:t>
            </a:r>
            <a:endParaRPr lang="cs-CZ" sz="2000"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cs-CZ" sz="2000"/>
              <a:t>Doprava</a:t>
            </a:r>
            <a:endParaRPr lang="cs-CZ" sz="2000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1E829-405F-8833-54D5-EDEB396C0E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US"/>
              <a:t>5) </a:t>
            </a:r>
            <a:r>
              <a:rPr lang="en-US" err="1"/>
              <a:t>Vývoj</a:t>
            </a:r>
            <a:r>
              <a:rPr lang="en-US"/>
              <a:t> </a:t>
            </a:r>
            <a:r>
              <a:rPr lang="en-US" err="1"/>
              <a:t>cenového</a:t>
            </a:r>
            <a:r>
              <a:rPr lang="en-US"/>
              <a:t> </a:t>
            </a:r>
            <a:r>
              <a:rPr lang="en-US" err="1"/>
              <a:t>prostředí</a:t>
            </a:r>
            <a:r>
              <a:rPr lang="en-US"/>
              <a:t> </a:t>
            </a:r>
            <a:r>
              <a:rPr lang="en-US" err="1"/>
              <a:t>společného</a:t>
            </a:r>
            <a:r>
              <a:rPr lang="en-US"/>
              <a:t> </a:t>
            </a:r>
            <a:r>
              <a:rPr lang="en-US" err="1"/>
              <a:t>trhu</a:t>
            </a:r>
            <a:r>
              <a:rPr lang="en-US"/>
              <a:t> EU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A87022-0603-9B8E-7E5F-1902A672A44E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>
            <a:off x="9812140" y="6131377"/>
            <a:ext cx="145534" cy="874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BAE456-FB60-2C09-2A54-54A274B55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370" y="3434060"/>
            <a:ext cx="5227643" cy="32433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514DCD-06BE-3362-9297-87E2EFBA7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942" y="1025979"/>
            <a:ext cx="4582887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856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25EAA0-5804-6A19-0851-54A850DF2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5214" y="1686063"/>
            <a:ext cx="4380142" cy="4218895"/>
          </a:xfrm>
        </p:spPr>
        <p:txBody>
          <a:bodyPr lIns="0" tIns="0" rIns="0" bIns="0" anchor="t"/>
          <a:lstStyle/>
          <a:p>
            <a:r>
              <a:rPr lang="en-US" sz="2000" dirty="0">
                <a:ea typeface="+mn-lt"/>
                <a:cs typeface="+mn-lt"/>
              </a:rPr>
              <a:t>HICP: </a:t>
            </a:r>
            <a:r>
              <a:rPr lang="en-US" sz="2000" dirty="0" err="1">
                <a:ea typeface="+mn-lt"/>
                <a:cs typeface="+mn-lt"/>
              </a:rPr>
              <a:t>harmonizovaný</a:t>
            </a:r>
            <a:r>
              <a:rPr lang="en-US" sz="2000" dirty="0">
                <a:ea typeface="+mn-lt"/>
                <a:cs typeface="+mn-lt"/>
              </a:rPr>
              <a:t> index </a:t>
            </a:r>
            <a:r>
              <a:rPr lang="en-US" sz="2000" dirty="0" err="1">
                <a:ea typeface="+mn-lt"/>
                <a:cs typeface="+mn-lt"/>
              </a:rPr>
              <a:t>spotřebitelských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cen</a:t>
            </a:r>
            <a:endParaRPr lang="en-US" sz="2000">
              <a:ea typeface="+mn-lt"/>
              <a:cs typeface="+mn-lt"/>
            </a:endParaRPr>
          </a:p>
          <a:p>
            <a:r>
              <a:rPr lang="en-GB" sz="2000">
                <a:cs typeface="Arial"/>
              </a:rPr>
              <a:t>2</a:t>
            </a:r>
            <a:r>
              <a:rPr lang="cs-CZ" sz="2000">
                <a:cs typeface="Arial"/>
              </a:rPr>
              <a:t>021: vyrazný </a:t>
            </a:r>
            <a:r>
              <a:rPr lang="cs-CZ" sz="2000">
                <a:ea typeface="+mn-lt"/>
                <a:cs typeface="+mn-lt"/>
              </a:rPr>
              <a:t>nárůst spotřebitelských cen</a:t>
            </a:r>
          </a:p>
          <a:p>
            <a:r>
              <a:rPr lang="cs-CZ" sz="2000" b="1">
                <a:ea typeface="+mn-lt"/>
                <a:cs typeface="+mn-lt"/>
              </a:rPr>
              <a:t>Hlavní faktory:</a:t>
            </a:r>
          </a:p>
          <a:p>
            <a:pPr marL="342900" indent="-342900">
              <a:buFont typeface="Arial"/>
              <a:buChar char="•"/>
            </a:pPr>
            <a:r>
              <a:rPr lang="cs-CZ" sz="2000">
                <a:ea typeface="+mn-lt"/>
                <a:cs typeface="+mn-lt"/>
              </a:rPr>
              <a:t>růst cen energií</a:t>
            </a:r>
          </a:p>
          <a:p>
            <a:pPr marL="342900" indent="-342900">
              <a:buFont typeface="Arial"/>
              <a:buChar char="•"/>
            </a:pPr>
            <a:r>
              <a:rPr lang="cs-CZ" sz="2000">
                <a:ea typeface="+mn-lt"/>
                <a:cs typeface="+mn-lt"/>
              </a:rPr>
              <a:t>zdražení vstupních surovin</a:t>
            </a:r>
          </a:p>
          <a:p>
            <a:pPr marL="342900" indent="-342900">
              <a:buFont typeface="Arial"/>
              <a:buChar char="•"/>
            </a:pPr>
            <a:r>
              <a:rPr lang="cs-CZ" sz="2000">
                <a:ea typeface="+mn-lt"/>
                <a:cs typeface="+mn-lt"/>
              </a:rPr>
              <a:t>narušení dodavatelských řetězců</a:t>
            </a:r>
            <a:r>
              <a:rPr lang="cs-CZ" sz="2000" dirty="0">
                <a:cs typeface="Arial"/>
              </a:rPr>
              <a:t> </a:t>
            </a:r>
          </a:p>
          <a:p>
            <a:r>
              <a:rPr lang="cs-CZ" sz="2000">
                <a:ea typeface="+mn-lt"/>
                <a:cs typeface="+mn-lt"/>
              </a:rPr>
              <a:t>2023 - 2025: částečná stabilizace při </a:t>
            </a:r>
            <a:r>
              <a:rPr lang="cs-CZ" sz="2000" dirty="0">
                <a:ea typeface="+mn-lt"/>
                <a:cs typeface="+mn-lt"/>
              </a:rPr>
              <a:t>vyšší cenové hladině</a:t>
            </a:r>
            <a:endParaRPr lang="cs-CZ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7045F-0F54-3A9A-7FA0-654F4DA407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5890" y="419101"/>
            <a:ext cx="10934700" cy="619125"/>
          </a:xfrm>
        </p:spPr>
        <p:txBody>
          <a:bodyPr/>
          <a:lstStyle/>
          <a:p>
            <a:r>
              <a:rPr lang="en-GB"/>
              <a:t>5) </a:t>
            </a:r>
            <a:r>
              <a:rPr lang="en-US" err="1"/>
              <a:t>Vývoj</a:t>
            </a:r>
            <a:r>
              <a:rPr lang="en-US"/>
              <a:t> </a:t>
            </a:r>
            <a:r>
              <a:rPr lang="en-US" err="1"/>
              <a:t>cenového</a:t>
            </a:r>
            <a:r>
              <a:rPr lang="en-US"/>
              <a:t> </a:t>
            </a:r>
            <a:r>
              <a:rPr lang="en-US" err="1"/>
              <a:t>prostředí</a:t>
            </a:r>
            <a:r>
              <a:rPr lang="en-US"/>
              <a:t> </a:t>
            </a:r>
            <a:r>
              <a:rPr lang="en-US" err="1"/>
              <a:t>společného</a:t>
            </a:r>
            <a:r>
              <a:rPr lang="en-US"/>
              <a:t> </a:t>
            </a:r>
            <a:r>
              <a:rPr lang="en-US" err="1"/>
              <a:t>trhu</a:t>
            </a:r>
            <a:r>
              <a:rPr lang="en-US"/>
              <a:t> EU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3C2E57-B161-6751-0514-D126D91CEBF0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 flipV="1">
            <a:off x="11142413" y="5903166"/>
            <a:ext cx="589093" cy="3379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580188-2979-3508-EB5A-1708C558A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719" y="1686658"/>
            <a:ext cx="6227885" cy="357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686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5E267-9245-B5F7-C725-B5A03203D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3842A7-78A4-57FA-A0D4-139A6EE16A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822" y="1200150"/>
            <a:ext cx="10495128" cy="4703017"/>
          </a:xfrm>
        </p:spPr>
        <p:txBody>
          <a:bodyPr lIns="0" tIns="0" rIns="0" bIns="0" anchor="t"/>
          <a:lstStyle/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Nabídkový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směr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sleduje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přenos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změn</a:t>
            </a:r>
            <a:r>
              <a:rPr lang="en-US">
                <a:ea typeface="+mn-lt"/>
                <a:cs typeface="+mn-lt"/>
              </a:rPr>
              <a:t> od </a:t>
            </a:r>
            <a:r>
              <a:rPr lang="en-US" err="1">
                <a:ea typeface="+mn-lt"/>
                <a:cs typeface="+mn-lt"/>
              </a:rPr>
              <a:t>prvovýroby</a:t>
            </a:r>
            <a:r>
              <a:rPr lang="en-US">
                <a:ea typeface="+mn-lt"/>
                <a:cs typeface="+mn-lt"/>
              </a:rPr>
              <a:t> k </a:t>
            </a:r>
            <a:r>
              <a:rPr lang="en-US" err="1">
                <a:ea typeface="+mn-lt"/>
                <a:cs typeface="+mn-lt"/>
              </a:rPr>
              <a:t>navazujícím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článkům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Všechny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hodnoty</a:t>
            </a:r>
            <a:r>
              <a:rPr lang="en-US">
                <a:ea typeface="+mn-lt"/>
                <a:cs typeface="+mn-lt"/>
              </a:rPr>
              <a:t> EPT </a:t>
            </a:r>
            <a:r>
              <a:rPr lang="en-US" err="1">
                <a:ea typeface="+mn-lt"/>
                <a:cs typeface="+mn-lt"/>
              </a:rPr>
              <a:t>jsou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menší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než</a:t>
            </a:r>
            <a:r>
              <a:rPr lang="en-US" b="1">
                <a:ea typeface="+mn-lt"/>
                <a:cs typeface="+mn-lt"/>
              </a:rPr>
              <a:t> 1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To </a:t>
            </a:r>
            <a:r>
              <a:rPr lang="en-US" err="1">
                <a:ea typeface="+mn-lt"/>
                <a:cs typeface="+mn-lt"/>
              </a:rPr>
              <a:t>znamená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že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změny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</a:t>
            </a:r>
            <a:r>
              <a:rPr lang="en-US">
                <a:ea typeface="+mn-lt"/>
                <a:cs typeface="+mn-lt"/>
              </a:rPr>
              <a:t> se </a:t>
            </a:r>
            <a:r>
              <a:rPr lang="en-US" err="1">
                <a:ea typeface="+mn-lt"/>
                <a:cs typeface="+mn-lt"/>
              </a:rPr>
              <a:t>přenášely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méně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než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proporcionálně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Výsledky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EPT12 = 0,448</a:t>
            </a:r>
            <a:br>
              <a:rPr lang="en-US" b="1">
                <a:ea typeface="+mn-lt"/>
                <a:cs typeface="+mn-lt"/>
              </a:rPr>
            </a:br>
            <a:r>
              <a:rPr lang="en-US" b="1" err="1">
                <a:ea typeface="+mn-lt"/>
                <a:cs typeface="+mn-lt"/>
              </a:rPr>
              <a:t>Přenos</a:t>
            </a:r>
            <a:r>
              <a:rPr lang="en-US" b="1">
                <a:ea typeface="+mn-lt"/>
                <a:cs typeface="+mn-lt"/>
              </a:rPr>
              <a:t> z CZV do CPV je </a:t>
            </a:r>
            <a:r>
              <a:rPr lang="en-US" b="1" err="1">
                <a:ea typeface="+mn-lt"/>
                <a:cs typeface="+mn-lt"/>
              </a:rPr>
              <a:t>slabý</a:t>
            </a:r>
            <a:r>
              <a:rPr lang="en-US" b="1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EPT13 = 0,464</a:t>
            </a:r>
            <a:br>
              <a:rPr lang="en-US" b="1">
                <a:ea typeface="+mn-lt"/>
                <a:cs typeface="+mn-lt"/>
              </a:rPr>
            </a:br>
            <a:r>
              <a:rPr lang="en-US" b="1" err="1">
                <a:ea typeface="+mn-lt"/>
                <a:cs typeface="+mn-lt"/>
              </a:rPr>
              <a:t>Přenos</a:t>
            </a:r>
            <a:r>
              <a:rPr lang="en-US" b="1">
                <a:ea typeface="+mn-lt"/>
                <a:cs typeface="+mn-lt"/>
              </a:rPr>
              <a:t> z CZV do SC je </a:t>
            </a:r>
            <a:r>
              <a:rPr lang="en-US" b="1" err="1">
                <a:ea typeface="+mn-lt"/>
                <a:cs typeface="+mn-lt"/>
              </a:rPr>
              <a:t>také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slabý</a:t>
            </a:r>
            <a:r>
              <a:rPr lang="en-US" b="1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EPT23 = 0,638</a:t>
            </a:r>
            <a:br>
              <a:rPr lang="en-US" b="1">
                <a:ea typeface="+mn-lt"/>
                <a:cs typeface="+mn-lt"/>
              </a:rPr>
            </a:br>
            <a:r>
              <a:rPr lang="en-US" b="1" err="1">
                <a:ea typeface="+mn-lt"/>
                <a:cs typeface="+mn-lt"/>
              </a:rPr>
              <a:t>Přenos</a:t>
            </a:r>
            <a:r>
              <a:rPr lang="en-US" b="1">
                <a:ea typeface="+mn-lt"/>
                <a:cs typeface="+mn-lt"/>
              </a:rPr>
              <a:t> z CPV do SC je </a:t>
            </a:r>
            <a:r>
              <a:rPr lang="en-US" b="1" err="1">
                <a:ea typeface="+mn-lt"/>
                <a:cs typeface="+mn-lt"/>
              </a:rPr>
              <a:t>silnější</a:t>
            </a:r>
            <a:r>
              <a:rPr lang="en-US" b="1">
                <a:ea typeface="+mn-lt"/>
                <a:cs typeface="+mn-lt"/>
              </a:rPr>
              <a:t>, ale </a:t>
            </a:r>
            <a:r>
              <a:rPr lang="en-US" b="1" err="1">
                <a:ea typeface="+mn-lt"/>
                <a:cs typeface="+mn-lt"/>
              </a:rPr>
              <a:t>stále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neelastický</a:t>
            </a:r>
            <a:r>
              <a:rPr lang="en-US" b="1">
                <a:ea typeface="+mn-lt"/>
                <a:cs typeface="+mn-lt"/>
              </a:rPr>
              <a:t>.</a:t>
            </a:r>
            <a:endParaRPr lang="en-US"/>
          </a:p>
          <a:p>
            <a:endParaRPr lang="en-US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1B192-27C4-6418-8F1E-B2ED3CC8AA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US" b="0" dirty="0">
                <a:ea typeface="+mn-lt"/>
                <a:cs typeface="+mn-lt"/>
              </a:rPr>
              <a:t>6) </a:t>
            </a:r>
            <a:r>
              <a:rPr lang="en-US" dirty="0" err="1">
                <a:ea typeface="+mn-lt"/>
                <a:cs typeface="+mn-lt"/>
              </a:rPr>
              <a:t>Elasticita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cenové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transmise</a:t>
            </a:r>
            <a:r>
              <a:rPr lang="en-US" dirty="0">
                <a:ea typeface="+mn-lt"/>
                <a:cs typeface="+mn-lt"/>
              </a:rPr>
              <a:t> – </a:t>
            </a:r>
            <a:r>
              <a:rPr lang="en-US" dirty="0" err="1">
                <a:ea typeface="+mn-lt"/>
                <a:cs typeface="+mn-lt"/>
              </a:rPr>
              <a:t>nabídkový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směr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E0A602-35D2-EE09-F33E-D8C59004E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627" y="3427251"/>
            <a:ext cx="3397050" cy="131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09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35AE97-2347-F343-89A2-8D1EA7D2CD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822" y="1200150"/>
            <a:ext cx="9485398" cy="4703017"/>
          </a:xfrm>
        </p:spPr>
        <p:txBody>
          <a:bodyPr lIns="0" tIns="0" rIns="0" bIns="0" anchor="t"/>
          <a:lstStyle/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Poptávkový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směr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sleduje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vliv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změn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</a:t>
            </a:r>
            <a:r>
              <a:rPr lang="en-US">
                <a:ea typeface="+mn-lt"/>
                <a:cs typeface="+mn-lt"/>
              </a:rPr>
              <a:t> v </a:t>
            </a:r>
            <a:r>
              <a:rPr lang="en-US" err="1">
                <a:ea typeface="+mn-lt"/>
                <a:cs typeface="+mn-lt"/>
              </a:rPr>
              <a:t>navazujících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článcích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předcházející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trhy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 </a:t>
            </a:r>
            <a:r>
              <a:rPr lang="en-US" err="1">
                <a:ea typeface="+mn-lt"/>
                <a:cs typeface="+mn-lt"/>
              </a:rPr>
              <a:t>dvou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vztahů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byly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zjištěny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hodnoty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vyšší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než</a:t>
            </a:r>
            <a:r>
              <a:rPr lang="en-US" b="1">
                <a:ea typeface="+mn-lt"/>
                <a:cs typeface="+mn-lt"/>
              </a:rPr>
              <a:t> 1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To </a:t>
            </a:r>
            <a:r>
              <a:rPr lang="en-US" err="1">
                <a:ea typeface="+mn-lt"/>
                <a:cs typeface="+mn-lt"/>
              </a:rPr>
              <a:t>znamená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více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než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proporcionální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reakci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Výsledky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EPT21 = 1,072</a:t>
            </a:r>
            <a:br>
              <a:rPr lang="en-US" b="1">
                <a:ea typeface="+mn-lt"/>
                <a:cs typeface="+mn-lt"/>
              </a:rPr>
            </a:br>
            <a:r>
              <a:rPr lang="en-US" b="1" err="1">
                <a:ea typeface="+mn-lt"/>
                <a:cs typeface="+mn-lt"/>
              </a:rPr>
              <a:t>Změny</a:t>
            </a:r>
            <a:r>
              <a:rPr lang="en-US" b="1">
                <a:ea typeface="+mn-lt"/>
                <a:cs typeface="+mn-lt"/>
              </a:rPr>
              <a:t> CPV se </a:t>
            </a:r>
            <a:r>
              <a:rPr lang="en-US" b="1" err="1">
                <a:ea typeface="+mn-lt"/>
                <a:cs typeface="+mn-lt"/>
              </a:rPr>
              <a:t>silně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promítají</a:t>
            </a:r>
            <a:r>
              <a:rPr lang="en-US" b="1">
                <a:ea typeface="+mn-lt"/>
                <a:cs typeface="+mn-lt"/>
              </a:rPr>
              <a:t> do CZV.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EPT31 = 1,532</a:t>
            </a:r>
            <a:br>
              <a:rPr lang="en-US" b="1">
                <a:ea typeface="+mn-lt"/>
                <a:cs typeface="+mn-lt"/>
              </a:rPr>
            </a:br>
            <a:r>
              <a:rPr lang="en-US" b="1" err="1">
                <a:ea typeface="+mn-lt"/>
                <a:cs typeface="+mn-lt"/>
              </a:rPr>
              <a:t>Změny</a:t>
            </a:r>
            <a:r>
              <a:rPr lang="en-US" b="1">
                <a:ea typeface="+mn-lt"/>
                <a:cs typeface="+mn-lt"/>
              </a:rPr>
              <a:t> SC se </a:t>
            </a:r>
            <a:r>
              <a:rPr lang="en-US" b="1" err="1">
                <a:ea typeface="+mn-lt"/>
                <a:cs typeface="+mn-lt"/>
              </a:rPr>
              <a:t>výrazně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promítají</a:t>
            </a:r>
            <a:r>
              <a:rPr lang="en-US" b="1">
                <a:ea typeface="+mn-lt"/>
                <a:cs typeface="+mn-lt"/>
              </a:rPr>
              <a:t> do CZV.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EPT32 = 0,878</a:t>
            </a:r>
            <a:br>
              <a:rPr lang="en-US" b="1">
                <a:ea typeface="+mn-lt"/>
                <a:cs typeface="+mn-lt"/>
              </a:rPr>
            </a:br>
            <a:r>
              <a:rPr lang="en-US" b="1" err="1">
                <a:ea typeface="+mn-lt"/>
                <a:cs typeface="+mn-lt"/>
              </a:rPr>
              <a:t>Přenos</a:t>
            </a:r>
            <a:r>
              <a:rPr lang="en-US" b="1">
                <a:ea typeface="+mn-lt"/>
                <a:cs typeface="+mn-lt"/>
              </a:rPr>
              <a:t> ze SC do CPV je </a:t>
            </a:r>
            <a:r>
              <a:rPr lang="en-US" b="1" err="1">
                <a:ea typeface="+mn-lt"/>
                <a:cs typeface="+mn-lt"/>
              </a:rPr>
              <a:t>neelastický</a:t>
            </a:r>
            <a:r>
              <a:rPr lang="en-US" b="1">
                <a:ea typeface="+mn-lt"/>
                <a:cs typeface="+mn-lt"/>
              </a:rPr>
              <a:t>, ale </a:t>
            </a:r>
            <a:r>
              <a:rPr lang="en-US" b="1" err="1">
                <a:ea typeface="+mn-lt"/>
                <a:cs typeface="+mn-lt"/>
              </a:rPr>
              <a:t>blízko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hodnotě</a:t>
            </a:r>
            <a:r>
              <a:rPr lang="en-US" b="1">
                <a:ea typeface="+mn-lt"/>
                <a:cs typeface="+mn-lt"/>
              </a:rPr>
              <a:t> 1.</a:t>
            </a:r>
            <a:endParaRPr lang="en-US"/>
          </a:p>
          <a:p>
            <a:endParaRPr lang="en-US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76798-D28E-A9F1-24DB-E46A110D96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US" b="0" dirty="0">
                <a:ea typeface="+mn-lt"/>
                <a:cs typeface="+mn-lt"/>
              </a:rPr>
              <a:t>6) </a:t>
            </a:r>
            <a:r>
              <a:rPr lang="en-US" dirty="0" err="1">
                <a:ea typeface="+mn-lt"/>
                <a:cs typeface="+mn-lt"/>
              </a:rPr>
              <a:t>Elasticita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cenové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transmise</a:t>
            </a:r>
            <a:r>
              <a:rPr lang="en-US" dirty="0">
                <a:ea typeface="+mn-lt"/>
                <a:cs typeface="+mn-lt"/>
              </a:rPr>
              <a:t> – </a:t>
            </a:r>
            <a:r>
              <a:rPr lang="en-US" dirty="0" err="1">
                <a:ea typeface="+mn-lt"/>
                <a:cs typeface="+mn-lt"/>
              </a:rPr>
              <a:t>poptávkový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směr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33C51E-B974-BBA2-E9AE-423F86F32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627" y="3427251"/>
            <a:ext cx="3397050" cy="131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732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DF948D-B875-CCF1-3753-FC263E97E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822" y="1200150"/>
            <a:ext cx="10004645" cy="4703017"/>
          </a:xfrm>
        </p:spPr>
        <p:txBody>
          <a:bodyPr lIns="0" tIns="0" rIns="0" bIns="0" anchor="t"/>
          <a:lstStyle/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Byly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sledovány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rozdíly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změny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mezi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jednotlivými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články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vertikály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Cílem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bylo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zjistit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zda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reagují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jinak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růstu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při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poklesu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Výsledky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ukazují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pouze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slabé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souvislosti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CZV–CPV: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korelace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cca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0,1243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b="1">
                <a:ea typeface="+mn-lt"/>
                <a:cs typeface="+mn-lt"/>
              </a:rPr>
              <a:t>0,0903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CPV–SC: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korelace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cca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0,0301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b="1">
                <a:ea typeface="+mn-lt"/>
                <a:cs typeface="+mn-lt"/>
              </a:rPr>
              <a:t>−0,0651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Vazby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mezi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změnami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jsou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tedy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velmi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slabé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téměř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nulové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Krátkodobé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změny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jedné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úrovni</a:t>
            </a:r>
            <a:r>
              <a:rPr lang="en-US">
                <a:ea typeface="+mn-lt"/>
                <a:cs typeface="+mn-lt"/>
              </a:rPr>
              <a:t> se do </a:t>
            </a:r>
            <a:r>
              <a:rPr lang="en-US" err="1">
                <a:ea typeface="+mn-lt"/>
                <a:cs typeface="+mn-lt"/>
              </a:rPr>
              <a:t>jiné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úrovně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nepromítají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přímo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lineárně</a:t>
            </a:r>
            <a:endParaRPr lang="en-US" err="1"/>
          </a:p>
          <a:p>
            <a:endParaRPr lang="en-US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76B4-3D44-0D42-B19C-2D098B8785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US" dirty="0">
                <a:cs typeface="Arial"/>
              </a:rPr>
              <a:t>6) </a:t>
            </a:r>
            <a:r>
              <a:rPr lang="en-US" dirty="0" err="1">
                <a:ea typeface="+mn-lt"/>
                <a:cs typeface="+mn-lt"/>
              </a:rPr>
              <a:t>Mezitržní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cenové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diference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1473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FC04ED-BFD6-BE2B-9830-722E2FA704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822" y="1633286"/>
            <a:ext cx="9557587" cy="4269881"/>
          </a:xfrm>
        </p:spPr>
        <p:txBody>
          <a:bodyPr lIns="0" tIns="0" rIns="0" bIns="0" anchor="t"/>
          <a:lstStyle/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Korelace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byly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testovány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zpoždění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0 </a:t>
            </a:r>
            <a:r>
              <a:rPr lang="en-US" b="1" err="1">
                <a:ea typeface="+mn-lt"/>
                <a:cs typeface="+mn-lt"/>
              </a:rPr>
              <a:t>až</a:t>
            </a:r>
            <a:r>
              <a:rPr lang="en-US" b="1">
                <a:ea typeface="+mn-lt"/>
                <a:cs typeface="+mn-lt"/>
              </a:rPr>
              <a:t> 9 </a:t>
            </a:r>
            <a:r>
              <a:rPr lang="en-US" b="1" err="1">
                <a:ea typeface="+mn-lt"/>
                <a:cs typeface="+mn-lt"/>
              </a:rPr>
              <a:t>měsíců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Nejvyšší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korelace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byly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zjištěny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CZV → CPV: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zpoždění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cca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4 </a:t>
            </a:r>
            <a:r>
              <a:rPr lang="en-US" b="1" err="1">
                <a:ea typeface="+mn-lt"/>
                <a:cs typeface="+mn-lt"/>
              </a:rPr>
              <a:t>měsíce</a:t>
            </a:r>
            <a:endParaRPr lang="en-US" err="1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CPV → SC:</a:t>
            </a:r>
            <a:r>
              <a:rPr lang="en-US">
                <a:ea typeface="+mn-lt"/>
                <a:cs typeface="+mn-lt"/>
              </a:rPr>
              <a:t> bez </a:t>
            </a:r>
            <a:r>
              <a:rPr lang="en-US" err="1">
                <a:ea typeface="+mn-lt"/>
                <a:cs typeface="+mn-lt"/>
              </a:rPr>
              <a:t>zpoždění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1 </a:t>
            </a:r>
            <a:r>
              <a:rPr lang="en-US" b="1" err="1">
                <a:ea typeface="+mn-lt"/>
                <a:cs typeface="+mn-lt"/>
              </a:rPr>
              <a:t>měsíc</a:t>
            </a:r>
            <a:endParaRPr lang="en-US" err="1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CZV → SC: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zpoždění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cca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7 </a:t>
            </a:r>
            <a:r>
              <a:rPr lang="en-US" b="1" err="1">
                <a:ea typeface="+mn-lt"/>
                <a:cs typeface="+mn-lt"/>
              </a:rPr>
              <a:t>měsíců</a:t>
            </a:r>
            <a:endParaRPr lang="en-US" err="1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Změny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mléka</a:t>
            </a:r>
            <a:r>
              <a:rPr lang="en-US">
                <a:ea typeface="+mn-lt"/>
                <a:cs typeface="+mn-lt"/>
              </a:rPr>
              <a:t> se </a:t>
            </a:r>
            <a:r>
              <a:rPr lang="en-US" err="1">
                <a:ea typeface="+mn-lt"/>
                <a:cs typeface="+mn-lt"/>
              </a:rPr>
              <a:t>tedy</a:t>
            </a:r>
            <a:r>
              <a:rPr lang="en-US">
                <a:ea typeface="+mn-lt"/>
                <a:cs typeface="+mn-lt"/>
              </a:rPr>
              <a:t> do </a:t>
            </a:r>
            <a:r>
              <a:rPr lang="en-US" err="1">
                <a:ea typeface="+mn-lt"/>
                <a:cs typeface="+mn-lt"/>
              </a:rPr>
              <a:t>spotřebitelské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jogurtu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promítají</a:t>
            </a:r>
            <a:r>
              <a:rPr lang="en-US">
                <a:ea typeface="+mn-lt"/>
                <a:cs typeface="+mn-lt"/>
              </a:rPr>
              <a:t> s </a:t>
            </a:r>
            <a:r>
              <a:rPr lang="en-US" err="1">
                <a:ea typeface="+mn-lt"/>
                <a:cs typeface="+mn-lt"/>
              </a:rPr>
              <a:t>delším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odstupem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Přenos</a:t>
            </a:r>
            <a:r>
              <a:rPr lang="en-US">
                <a:ea typeface="+mn-lt"/>
                <a:cs typeface="+mn-lt"/>
              </a:rPr>
              <a:t> z </a:t>
            </a:r>
            <a:r>
              <a:rPr lang="en-US" err="1">
                <a:ea typeface="+mn-lt"/>
                <a:cs typeface="+mn-lt"/>
              </a:rPr>
              <a:t>výrobní</a:t>
            </a:r>
            <a:r>
              <a:rPr lang="en-US">
                <a:ea typeface="+mn-lt"/>
                <a:cs typeface="+mn-lt"/>
              </a:rPr>
              <a:t> do </a:t>
            </a:r>
            <a:r>
              <a:rPr lang="en-US" err="1">
                <a:ea typeface="+mn-lt"/>
                <a:cs typeface="+mn-lt"/>
              </a:rPr>
              <a:t>spotřebitelské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ceny</a:t>
            </a:r>
            <a:r>
              <a:rPr lang="en-US">
                <a:ea typeface="+mn-lt"/>
                <a:cs typeface="+mn-lt"/>
              </a:rPr>
              <a:t> je </a:t>
            </a:r>
            <a:r>
              <a:rPr lang="en-US" err="1">
                <a:ea typeface="+mn-lt"/>
                <a:cs typeface="+mn-lt"/>
              </a:rPr>
              <a:t>rychlejší</a:t>
            </a:r>
            <a:r>
              <a:rPr lang="en-US">
                <a:ea typeface="+mn-lt"/>
                <a:cs typeface="+mn-lt"/>
              </a:rPr>
              <a:t>, ale </a:t>
            </a:r>
            <a:r>
              <a:rPr lang="en-US" err="1">
                <a:ea typeface="+mn-lt"/>
                <a:cs typeface="+mn-lt"/>
              </a:rPr>
              <a:t>stále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slabý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endParaRPr lang="en-US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BA337-1913-C3CC-50DF-377355C494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US">
                <a:ea typeface="+mn-lt"/>
                <a:cs typeface="+mn-lt"/>
              </a:rPr>
              <a:t>6) </a:t>
            </a:r>
            <a:r>
              <a:rPr lang="en-US" err="1">
                <a:ea typeface="+mn-lt"/>
                <a:cs typeface="+mn-lt"/>
              </a:rPr>
              <a:t>Přenos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</a:t>
            </a:r>
            <a:r>
              <a:rPr lang="en-US">
                <a:ea typeface="+mn-lt"/>
                <a:cs typeface="+mn-lt"/>
              </a:rPr>
              <a:t> je </a:t>
            </a:r>
            <a:r>
              <a:rPr lang="en-US" err="1">
                <a:ea typeface="+mn-lt"/>
                <a:cs typeface="+mn-lt"/>
              </a:rPr>
              <a:t>časově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zpožděný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liší</a:t>
            </a:r>
            <a:r>
              <a:rPr lang="en-US">
                <a:ea typeface="+mn-lt"/>
                <a:cs typeface="+mn-lt"/>
              </a:rPr>
              <a:t> se </a:t>
            </a:r>
            <a:r>
              <a:rPr lang="en-US" err="1">
                <a:ea typeface="+mn-lt"/>
                <a:cs typeface="+mn-lt"/>
              </a:rPr>
              <a:t>podle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článků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vertikály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116746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72877-9187-F663-6F21-84A4494EB1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US">
                <a:cs typeface="Arial"/>
              </a:rPr>
              <a:t>6) </a:t>
            </a:r>
            <a:r>
              <a:rPr lang="en-US" err="1">
                <a:cs typeface="Arial"/>
              </a:rPr>
              <a:t>Přenos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cen</a:t>
            </a:r>
            <a:r>
              <a:rPr lang="en-US">
                <a:cs typeface="Arial"/>
              </a:rPr>
              <a:t> je </a:t>
            </a:r>
            <a:r>
              <a:rPr lang="en-US" err="1">
                <a:cs typeface="Arial"/>
              </a:rPr>
              <a:t>časově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zpožděný</a:t>
            </a:r>
            <a:r>
              <a:rPr lang="en-US">
                <a:cs typeface="Arial"/>
              </a:rPr>
              <a:t> a </a:t>
            </a:r>
            <a:r>
              <a:rPr lang="en-US" err="1">
                <a:cs typeface="Arial"/>
              </a:rPr>
              <a:t>liší</a:t>
            </a:r>
            <a:r>
              <a:rPr lang="en-US">
                <a:cs typeface="Arial"/>
              </a:rPr>
              <a:t> se </a:t>
            </a:r>
            <a:r>
              <a:rPr lang="en-US" err="1">
                <a:cs typeface="Arial"/>
              </a:rPr>
              <a:t>podle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článků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vertikály</a:t>
            </a:r>
            <a:endParaRPr lang="en-US" b="0" err="1">
              <a:cs typeface="Arial"/>
            </a:endParaRPr>
          </a:p>
          <a:p>
            <a:endParaRPr lang="en-US"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258F36-E9F6-B2C9-73D2-8FFB97630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811" y="1710883"/>
            <a:ext cx="6934682" cy="430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670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218BDF-5026-714D-6CF6-19FD63BD6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822" y="1200150"/>
            <a:ext cx="10931038" cy="4703017"/>
          </a:xfrm>
        </p:spPr>
        <p:txBody>
          <a:bodyPr lIns="0" tIns="0" rIns="0" bIns="0" anchor="t"/>
          <a:lstStyle/>
          <a:p>
            <a:pPr marL="342900" indent="-342900">
              <a:buFont typeface="Arial"/>
              <a:buChar char="•"/>
            </a:pPr>
            <a:r>
              <a:rPr lang="en-GB" dirty="0" err="1">
                <a:cs typeface="Arial"/>
              </a:rPr>
              <a:t>Klíčový</a:t>
            </a:r>
            <a:r>
              <a:rPr lang="en-GB" dirty="0">
                <a:cs typeface="Arial"/>
              </a:rPr>
              <a:t> </a:t>
            </a:r>
            <a:r>
              <a:rPr lang="en-GB" dirty="0" err="1">
                <a:cs typeface="Arial"/>
              </a:rPr>
              <a:t>produkt</a:t>
            </a:r>
            <a:r>
              <a:rPr lang="en-GB" dirty="0">
                <a:cs typeface="Arial"/>
              </a:rPr>
              <a:t> </a:t>
            </a:r>
            <a:r>
              <a:rPr lang="en-GB" dirty="0" err="1">
                <a:cs typeface="Arial"/>
              </a:rPr>
              <a:t>mlékárenského</a:t>
            </a:r>
            <a:r>
              <a:rPr lang="en-GB" dirty="0">
                <a:cs typeface="Arial"/>
              </a:rPr>
              <a:t> </a:t>
            </a:r>
            <a:r>
              <a:rPr lang="en-GB" dirty="0" err="1">
                <a:cs typeface="Arial"/>
              </a:rPr>
              <a:t>průmyslu</a:t>
            </a:r>
            <a:r>
              <a:rPr lang="en-GB" dirty="0">
                <a:cs typeface="Arial"/>
              </a:rPr>
              <a:t> </a:t>
            </a:r>
          </a:p>
          <a:p>
            <a:pPr marL="342900" indent="-342900">
              <a:buFont typeface="Arial"/>
              <a:buChar char="•"/>
            </a:pPr>
            <a:r>
              <a:rPr lang="en-GB" dirty="0" err="1">
                <a:ea typeface="+mn-lt"/>
                <a:cs typeface="+mn-lt"/>
              </a:rPr>
              <a:t>Růst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nominálních</a:t>
            </a:r>
            <a:r>
              <a:rPr lang="en-GB" dirty="0">
                <a:ea typeface="+mn-lt"/>
                <a:cs typeface="+mn-lt"/>
              </a:rPr>
              <a:t> </a:t>
            </a:r>
            <a:r>
              <a:rPr lang="en-GB" dirty="0" err="1">
                <a:ea typeface="+mn-lt"/>
                <a:cs typeface="+mn-lt"/>
              </a:rPr>
              <a:t>cen</a:t>
            </a:r>
            <a:r>
              <a:rPr lang="en-GB" dirty="0">
                <a:ea typeface="+mn-lt"/>
                <a:cs typeface="+mn-lt"/>
              </a:rPr>
              <a:t> po </a:t>
            </a:r>
            <a:r>
              <a:rPr lang="en-GB" dirty="0" err="1">
                <a:ea typeface="+mn-lt"/>
                <a:cs typeface="+mn-lt"/>
              </a:rPr>
              <a:t>roce</a:t>
            </a:r>
            <a:r>
              <a:rPr lang="en-GB" dirty="0">
                <a:ea typeface="+mn-lt"/>
                <a:cs typeface="+mn-lt"/>
              </a:rPr>
              <a:t> 2024 </a:t>
            </a:r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→ </a:t>
            </a:r>
            <a:r>
              <a:rPr lang="en-GB" dirty="0" err="1">
                <a:solidFill>
                  <a:srgbClr val="000000"/>
                </a:solidFill>
                <a:ea typeface="+mn-lt"/>
                <a:cs typeface="+mn-lt"/>
              </a:rPr>
              <a:t>očištění</a:t>
            </a:r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dirty="0" err="1">
                <a:solidFill>
                  <a:srgbClr val="000000"/>
                </a:solidFill>
                <a:ea typeface="+mn-lt"/>
                <a:cs typeface="+mn-lt"/>
              </a:rPr>
              <a:t>cen</a:t>
            </a:r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 o </a:t>
            </a:r>
            <a:r>
              <a:rPr lang="en-GB" dirty="0" err="1">
                <a:solidFill>
                  <a:srgbClr val="000000"/>
                </a:solidFill>
                <a:ea typeface="+mn-lt"/>
                <a:cs typeface="+mn-lt"/>
              </a:rPr>
              <a:t>inflaci</a:t>
            </a:r>
            <a:endParaRPr lang="en-GB" dirty="0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GB" dirty="0" err="1">
                <a:solidFill>
                  <a:srgbClr val="000000"/>
                </a:solidFill>
                <a:ea typeface="+mn-lt"/>
                <a:cs typeface="+mn-lt"/>
              </a:rPr>
              <a:t>Trh</a:t>
            </a:r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 s </a:t>
            </a:r>
            <a:r>
              <a:rPr lang="en-GB" dirty="0" err="1">
                <a:solidFill>
                  <a:srgbClr val="000000"/>
                </a:solidFill>
                <a:ea typeface="+mn-lt"/>
                <a:cs typeface="+mn-lt"/>
              </a:rPr>
              <a:t>jogurty</a:t>
            </a:r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 v EU = </a:t>
            </a:r>
            <a:r>
              <a:rPr lang="en-GB" dirty="0" err="1">
                <a:solidFill>
                  <a:srgbClr val="000000"/>
                </a:solidFill>
                <a:ea typeface="+mn-lt"/>
                <a:cs typeface="+mn-lt"/>
              </a:rPr>
              <a:t>vysoká</a:t>
            </a:r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dirty="0" err="1">
                <a:solidFill>
                  <a:srgbClr val="000000"/>
                </a:solidFill>
                <a:ea typeface="+mn-lt"/>
                <a:cs typeface="+mn-lt"/>
              </a:rPr>
              <a:t>integrace</a:t>
            </a:r>
            <a:endParaRPr lang="en-GB" dirty="0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GB" dirty="0" err="1">
                <a:solidFill>
                  <a:srgbClr val="000000"/>
                </a:solidFill>
                <a:ea typeface="+mn-lt"/>
                <a:cs typeface="+mn-lt"/>
              </a:rPr>
              <a:t>Cenové</a:t>
            </a:r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dirty="0" err="1">
                <a:solidFill>
                  <a:srgbClr val="000000"/>
                </a:solidFill>
                <a:ea typeface="+mn-lt"/>
                <a:cs typeface="+mn-lt"/>
              </a:rPr>
              <a:t>šoky</a:t>
            </a:r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 se </a:t>
            </a:r>
            <a:r>
              <a:rPr lang="en-GB" dirty="0" err="1">
                <a:solidFill>
                  <a:srgbClr val="000000"/>
                </a:solidFill>
                <a:ea typeface="+mn-lt"/>
                <a:cs typeface="+mn-lt"/>
              </a:rPr>
              <a:t>neprojevují</a:t>
            </a:r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dirty="0" err="1">
                <a:solidFill>
                  <a:srgbClr val="000000"/>
                </a:solidFill>
                <a:ea typeface="+mn-lt"/>
                <a:cs typeface="+mn-lt"/>
              </a:rPr>
              <a:t>stejně</a:t>
            </a:r>
            <a:r>
              <a:rPr lang="en-GB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dirty="0" err="1">
                <a:solidFill>
                  <a:srgbClr val="000000"/>
                </a:solidFill>
                <a:ea typeface="+mn-lt"/>
                <a:cs typeface="+mn-lt"/>
              </a:rPr>
              <a:t>intenzivně</a:t>
            </a:r>
            <a:endParaRPr lang="en-GB" dirty="0">
              <a:solidFill>
                <a:srgbClr val="000000"/>
              </a:solidFill>
              <a:ea typeface="+mn-lt"/>
              <a:cs typeface="+mn-lt"/>
            </a:endParaRPr>
          </a:p>
          <a:p>
            <a:pPr marL="1028700" lvl="1" indent="-342900">
              <a:buClr>
                <a:srgbClr val="AA006E"/>
              </a:buClr>
              <a:buFont typeface="Courier New"/>
              <a:buChar char="o"/>
            </a:pPr>
            <a:endParaRPr lang="en-GB">
              <a:solidFill>
                <a:srgbClr val="000000"/>
              </a:solidFill>
              <a:ea typeface="+mn-lt"/>
              <a:cs typeface="+mn-lt"/>
            </a:endParaRPr>
          </a:p>
          <a:p>
            <a:pPr lvl="1" indent="0">
              <a:buClr>
                <a:srgbClr val="AA006E"/>
              </a:buClr>
              <a:buNone/>
            </a:pPr>
            <a:endParaRPr lang="en-GB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F70C9-2109-F8FC-1808-23705237D2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GB" err="1">
                <a:cs typeface="Arial"/>
              </a:rPr>
              <a:t>Závěr</a:t>
            </a:r>
            <a:endParaRPr lang="en-GB" err="1"/>
          </a:p>
        </p:txBody>
      </p:sp>
    </p:spTree>
    <p:extLst>
      <p:ext uri="{BB962C8B-B14F-4D97-AF65-F5344CB8AC3E}">
        <p14:creationId xmlns:p14="http://schemas.microsoft.com/office/powerpoint/2010/main" val="1460814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A9CE4D-C18E-06AD-E229-B1206F874B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822" y="1200150"/>
            <a:ext cx="10681338" cy="470301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1400" dirty="0"/>
              <a:t>CLAL. (2023). </a:t>
            </a:r>
            <a:r>
              <a:rPr lang="cs-CZ" sz="1400" dirty="0" err="1"/>
              <a:t>Annual</a:t>
            </a:r>
            <a:r>
              <a:rPr lang="cs-CZ" sz="1400" dirty="0"/>
              <a:t> </a:t>
            </a:r>
            <a:r>
              <a:rPr lang="cs-CZ" sz="1400" dirty="0" err="1"/>
              <a:t>production</a:t>
            </a:r>
            <a:r>
              <a:rPr lang="cs-CZ" sz="1400" dirty="0"/>
              <a:t> </a:t>
            </a:r>
            <a:r>
              <a:rPr lang="cs-CZ" sz="1400" dirty="0" err="1"/>
              <a:t>of</a:t>
            </a:r>
            <a:r>
              <a:rPr lang="cs-CZ" sz="1400" dirty="0"/>
              <a:t> </a:t>
            </a:r>
            <a:r>
              <a:rPr lang="cs-CZ" sz="1400" dirty="0" err="1"/>
              <a:t>yogurt</a:t>
            </a:r>
            <a:r>
              <a:rPr lang="cs-CZ" sz="1400" dirty="0"/>
              <a:t> in </a:t>
            </a:r>
            <a:r>
              <a:rPr lang="cs-CZ" sz="1400" dirty="0" err="1"/>
              <a:t>the</a:t>
            </a:r>
            <a:r>
              <a:rPr lang="cs-CZ" sz="1400" dirty="0"/>
              <a:t> </a:t>
            </a:r>
            <a:r>
              <a:rPr lang="cs-CZ" sz="1400" dirty="0" err="1"/>
              <a:t>European</a:t>
            </a:r>
            <a:r>
              <a:rPr lang="cs-CZ" sz="1400" dirty="0"/>
              <a:t> Union (EU-27) </a:t>
            </a:r>
            <a:r>
              <a:rPr lang="cs-CZ" sz="1400" dirty="0" err="1"/>
              <a:t>from</a:t>
            </a:r>
            <a:r>
              <a:rPr lang="cs-CZ" sz="1400" dirty="0"/>
              <a:t> 2016 to 2022. In Statista. </a:t>
            </a:r>
            <a:r>
              <a:rPr lang="cs-CZ" sz="1400" dirty="0">
                <a:hlinkClick r:id="rId2"/>
              </a:rPr>
              <a:t>https://www.statista.com/statistics/1190879/yogurt-production-in-europe/</a:t>
            </a:r>
            <a:endParaRPr lang="cs-CZ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1400" dirty="0" err="1"/>
              <a:t>Enterprise</a:t>
            </a:r>
            <a:r>
              <a:rPr lang="cs-CZ" sz="1400" dirty="0"/>
              <a:t> </a:t>
            </a:r>
            <a:r>
              <a:rPr lang="cs-CZ" sz="1400" dirty="0" err="1"/>
              <a:t>Greece</a:t>
            </a:r>
            <a:r>
              <a:rPr lang="cs-CZ" sz="1400" dirty="0"/>
              <a:t>. (2021). </a:t>
            </a:r>
            <a:r>
              <a:rPr lang="cs-CZ" sz="1400" dirty="0" err="1"/>
              <a:t>Healthy</a:t>
            </a:r>
            <a:r>
              <a:rPr lang="cs-CZ" sz="1400" dirty="0"/>
              <a:t> food </a:t>
            </a:r>
            <a:r>
              <a:rPr lang="cs-CZ" sz="1400" dirty="0" err="1"/>
              <a:t>trends</a:t>
            </a:r>
            <a:r>
              <a:rPr lang="cs-CZ" sz="1400" dirty="0"/>
              <a:t> </a:t>
            </a:r>
            <a:r>
              <a:rPr lang="cs-CZ" sz="1400" dirty="0" err="1"/>
              <a:t>help</a:t>
            </a:r>
            <a:r>
              <a:rPr lang="cs-CZ" sz="1400" dirty="0"/>
              <a:t> drive </a:t>
            </a:r>
            <a:r>
              <a:rPr lang="cs-CZ" sz="1400" dirty="0" err="1"/>
              <a:t>record</a:t>
            </a:r>
            <a:r>
              <a:rPr lang="cs-CZ" sz="1400" dirty="0"/>
              <a:t> </a:t>
            </a:r>
            <a:r>
              <a:rPr lang="cs-CZ" sz="1400" dirty="0" err="1"/>
              <a:t>Greek</a:t>
            </a:r>
            <a:r>
              <a:rPr lang="cs-CZ" sz="1400" dirty="0"/>
              <a:t> </a:t>
            </a:r>
            <a:r>
              <a:rPr lang="cs-CZ" sz="1400" dirty="0" err="1"/>
              <a:t>feta</a:t>
            </a:r>
            <a:r>
              <a:rPr lang="cs-CZ" sz="1400" dirty="0"/>
              <a:t>, </a:t>
            </a:r>
            <a:r>
              <a:rPr lang="cs-CZ" sz="1400" dirty="0" err="1"/>
              <a:t>yogurt</a:t>
            </a:r>
            <a:r>
              <a:rPr lang="cs-CZ" sz="1400" dirty="0"/>
              <a:t> </a:t>
            </a:r>
            <a:r>
              <a:rPr lang="cs-CZ" sz="1400" dirty="0" err="1"/>
              <a:t>exports</a:t>
            </a:r>
            <a:r>
              <a:rPr lang="cs-CZ" sz="1400" dirty="0"/>
              <a:t>. </a:t>
            </a:r>
            <a:r>
              <a:rPr lang="cs-CZ" sz="1400" dirty="0">
                <a:hlinkClick r:id="rId3"/>
              </a:rPr>
              <a:t>https://newsletters.enterprisegreece.gov.gr/newsletter-articles/healthy-food-trends-help-drive-record-greek-feta-yogurt-exports/</a:t>
            </a:r>
            <a:endParaRPr lang="cs-CZ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1400" dirty="0"/>
              <a:t>FAO (2024). </a:t>
            </a:r>
            <a:r>
              <a:rPr lang="cs-CZ" sz="1400" dirty="0" err="1"/>
              <a:t>Gateway</a:t>
            </a:r>
            <a:r>
              <a:rPr lang="cs-CZ" sz="1400" dirty="0"/>
              <a:t> to </a:t>
            </a:r>
            <a:r>
              <a:rPr lang="cs-CZ" sz="1400" dirty="0" err="1"/>
              <a:t>dairy</a:t>
            </a:r>
            <a:r>
              <a:rPr lang="cs-CZ" sz="1400" dirty="0"/>
              <a:t> </a:t>
            </a:r>
            <a:r>
              <a:rPr lang="cs-CZ" sz="1400" dirty="0" err="1"/>
              <a:t>production</a:t>
            </a:r>
            <a:r>
              <a:rPr lang="cs-CZ" sz="1400" dirty="0"/>
              <a:t> and </a:t>
            </a:r>
            <a:r>
              <a:rPr lang="cs-CZ" sz="1400" dirty="0" err="1"/>
              <a:t>products</a:t>
            </a:r>
            <a:r>
              <a:rPr lang="cs-CZ" sz="1400" dirty="0"/>
              <a:t>. Food and </a:t>
            </a:r>
            <a:r>
              <a:rPr lang="cs-CZ" sz="1400" dirty="0" err="1"/>
              <a:t>Agriculture</a:t>
            </a:r>
            <a:r>
              <a:rPr lang="cs-CZ" sz="1400" dirty="0"/>
              <a:t> </a:t>
            </a:r>
            <a:r>
              <a:rPr lang="cs-CZ" sz="1400" dirty="0" err="1"/>
              <a:t>Organization</a:t>
            </a:r>
            <a:r>
              <a:rPr lang="cs-CZ" sz="1400" dirty="0"/>
              <a:t> </a:t>
            </a:r>
            <a:r>
              <a:rPr lang="cs-CZ" sz="1400" dirty="0" err="1"/>
              <a:t>of</a:t>
            </a:r>
            <a:r>
              <a:rPr lang="cs-CZ" sz="1400" dirty="0"/>
              <a:t> </a:t>
            </a:r>
            <a:r>
              <a:rPr lang="cs-CZ" sz="1400" dirty="0" err="1"/>
              <a:t>the</a:t>
            </a:r>
            <a:r>
              <a:rPr lang="cs-CZ" sz="1400" dirty="0"/>
              <a:t> United </a:t>
            </a:r>
            <a:r>
              <a:rPr lang="cs-CZ" sz="1400" dirty="0" err="1"/>
              <a:t>Nations</a:t>
            </a:r>
            <a:r>
              <a:rPr lang="cs-CZ" sz="1400" dirty="0"/>
              <a:t>. </a:t>
            </a:r>
            <a:r>
              <a:rPr lang="cs-CZ" sz="1400" dirty="0">
                <a:hlinkClick r:id="rId4"/>
              </a:rPr>
              <a:t>https://www.fao.org/dairy-production-products/production/milk-production/en</a:t>
            </a:r>
            <a:endParaRPr lang="cs-CZ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cs-CZ" sz="1400" dirty="0"/>
          </a:p>
          <a:p>
            <a:br>
              <a:rPr lang="cs-CZ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607FE-04CD-5A93-691C-2EFD2CE257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/>
              <a:t>Zdroje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974394"/>
      </p:ext>
    </p:extLst>
  </p:cSld>
  <p:clrMapOvr>
    <a:masterClrMapping/>
  </p:clrMapOvr>
</p:sld>
</file>

<file path=ppt/theme/theme1.xml><?xml version="1.0" encoding="utf-8"?>
<a:theme xmlns:a="http://schemas.openxmlformats.org/drawingml/2006/main" name="MENDELU">
  <a:themeElements>
    <a:clrScheme name="MENDELU">
      <a:dk1>
        <a:srgbClr val="000000"/>
      </a:dk1>
      <a:lt1>
        <a:srgbClr val="FFFFFF"/>
      </a:lt1>
      <a:dk2>
        <a:srgbClr val="78BE14"/>
      </a:dk2>
      <a:lt2>
        <a:srgbClr val="7F7F7F"/>
      </a:lt2>
      <a:accent1>
        <a:srgbClr val="CE9700"/>
      </a:accent1>
      <a:accent2>
        <a:srgbClr val="0A5028"/>
      </a:accent2>
      <a:accent3>
        <a:srgbClr val="8C0A00"/>
      </a:accent3>
      <a:accent4>
        <a:srgbClr val="0046A0"/>
      </a:accent4>
      <a:accent5>
        <a:srgbClr val="AA006E"/>
      </a:accent5>
      <a:accent6>
        <a:srgbClr val="00AAB4"/>
      </a:accent6>
      <a:hlink>
        <a:srgbClr val="7F7F7F"/>
      </a:hlink>
      <a:folHlink>
        <a:srgbClr val="BFBFBF"/>
      </a:folHlink>
    </a:clrScheme>
    <a:fontScheme name="Vlastní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blona_prezentace_FRRMS.pot [režim kompatibility]" id="{E7B5630A-1667-4259-AD11-228D0EE00880}" vid="{A3EBFE42-C125-4D41-812A-54EBD87133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MENDELU</Template>
  <TotalTime>0</TotalTime>
  <Words>958</Words>
  <Application>Microsoft Office PowerPoint</Application>
  <PresentationFormat>Widescreen</PresentationFormat>
  <Paragraphs>118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MENDELU</vt:lpstr>
      <vt:lpstr>Integrační procesy agrárního sektoru – jogurt bílý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Integrační procesy agrárního sektoru – jogurt bílý</dc:title>
  <dc:creator>Klára Petrášová</dc:creator>
  <cp:lastModifiedBy>Klára Petrášová</cp:lastModifiedBy>
  <cp:revision>79</cp:revision>
  <dcterms:created xsi:type="dcterms:W3CDTF">2026-04-26T09:09:33Z</dcterms:created>
  <dcterms:modified xsi:type="dcterms:W3CDTF">2026-04-28T07:02:26Z</dcterms:modified>
</cp:coreProperties>
</file>